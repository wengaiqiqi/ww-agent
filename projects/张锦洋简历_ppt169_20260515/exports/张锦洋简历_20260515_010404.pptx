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大家好，我是张锦洋，来自广西民族大学人工智能专业，目前本科在读。今天非常荣幸能有机会向大家介绍我的个人简历和项目经历。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我今年二十二岁，来自南宁，目前就读于广西民族大学人工智能专业。我的联系方式已经展示在屏幕上了，欢迎大家随时与我联系。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就读于广西民族大学人工智能专业，从二零二三年九月至今。在校期间，我系统学习了人工智能、机器学习、深度学习、自然语言处理、计算机视觉等核心课程，同时也打下了数据结构与算法、数据库原理、操作系统和计算机网络的扎实基础。预计二零二七年毕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二零二五年九月到十月，我在字节跳动担任数据标注师一职，参与了人工智能大模型豆包的监督微调数据标注工作。我的主要职责是标注处理前端交互相关数据，严格遵循标注规范，保证样本的准确性与一致性，确保模型训练数据的高质量。这段经历让我对大型语言模型的数据处理流程有了深入的实战理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介绍我的项目经历。第一个项目是中国机器人及人工智能大赛的备赛开发，我担任技术负责人。我们围绕开鸿机器人进行动作与代码逻辑设计开发，我负责设计了倒地起身、奔跑等舵机联动的复杂动作，同时主导了自动模式和遥控模式下的整体代码逻辑编排。最终带领团队斩获了国家级二等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第二个项目是睿抗机器人开发者大赛，我同样是技术负责人。这次我们针对百度智能车进行视觉识别与运行逻辑优化。我选用了 PPLCNet 模型进行训练和参数调优，优化了训练集与测试集，完成了智能车运行逻辑代码的设计与调试。最终实现了复杂光照和特殊路面下的道路精确识别，取得了省级一等奖。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第三个项目是 ROBOCOM 机器人开发者大赛的备赛开发。我带领团队完成了六足机器人的整体设计，实现了行走、翻越、低身位爬行等核心功能。我们还为机器人开发了全程无线的远程调试功能和通用型二点四 G 遥控功能，支持任意二点四 G 设备进行参数修改和控制。最终获得了国家级三等奖。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第四个项目是 AGV 小车硬件开发与代码调试。我参与了 AGV 小车的硬件模块设计，完成了硬件器件选型、电路搭建及硬件调试工作。软件方面，我们基于轮趣开源 ROS2 方案进行开发，编写并调试了小车控制相关代码，最终成功实现了雷达建图与自动化巡航功能。这段经历让我熟练掌握了 ROS2 的开发流程。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在专业技能方面，我具备四方面的能力。硬件开发方向，我熟悉 ESP32 系列和树莓派的开发，有 UART、SPI、I平方 C 等通信协议的实战经验。编程语言方面，我熟练掌握 Python 和 C 加加。开发工具方面，熟悉 Linux、Docker 容器部署和 Git 代码管理，同时具备舵机和电机代码控制能力。数据处理方面，有 AI 模型数据标注和 SFT 监督微调数据处理的实战经验。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获得的部分奖项荣誉。包括泰迪杯数据分析技能赛三等奖、睿抗机器人开发者大赛国家二等奖、亚太地区数学建模竞赛参与奖、蓝桥杯省级三等奖、广西大学生人工智能设计大赛三等奖、中国机器人及人工智能大赛国家三等奖，以及蓝桥杯省级二等奖和 GPLT 程序设计天梯赛团队三等奖。这些竞赛经历充分锻炼了我的技术能力和团队协作能力。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续上一页，我还获得了睿抗机器人开发者大赛省级三等奖、第二十七届中国机器人及人工智能大赛国家优秀奖、Robocom 马术机器人越野赛、障碍赛和竞速赛三项国家三等奖，第七届国际青年人工智能大赛总决赛国家三等奖，以及中国国际大学生创新大赛广西赛区选拔赛银奖。这些奖项涵盖机器人、人工智能、算法设计等多个方向，体现了我全面的技术视野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最后谈谈自我评价。我学习能力强，对人工智能和机器人开发充满热情，熟练掌握 Python 和 C 加加等编程语言，熟悉 Linux、Docker 和 Git 等开发工具。作为人工智能专业在读学生，我具备扎实的专业基础，在硬件开发、模型训练、数据标注和机器人设计等方向有丰富的实操经验。我曾多次担任国家级和省级竞赛的技术负责人，带领团队取得了多项优异成绩，积累了丰富的项目管理和团队协作经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以上就是我的个人简历介绍。感谢各位的关注，期待有机会与大家共事。我的联系方式已经展示在屏幕上，欢迎随时联系。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40000">
                <a:srgbClr val="1565C0"/>
              </a:gs>
              <a:gs pos="100000">
                <a:srgbClr val="42A5F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12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2A5F5">
                  <a:alpha val="20000"/>
                </a:srgbClr>
              </a:gs>
              <a:gs pos="100000">
                <a:srgbClr val="0D47A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763000" y="-285750"/>
            <a:ext cx="3429000" cy="3429000"/>
          </a:xfrm>
          <a:prstGeom prst="ellipse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9334500" y="28575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9906000" y="857250"/>
            <a:ext cx="1143000" cy="1143000"/>
          </a:xfrm>
          <a:prstGeom prst="ellipse">
            <a:avLst/>
          </a:prstGeom>
          <a:noFill/>
          <a:ln w="19050">
            <a:solidFill>
              <a:srgbClr val="FFFFFF">
                <a:alpha val="1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952500" y="4572000"/>
            <a:ext cx="1905000" cy="1905000"/>
          </a:xfrm>
          <a:prstGeom prst="ellipse">
            <a:avLst/>
          </a:prstGeom>
          <a:noFill/>
          <a:ln w="9525">
            <a:solidFill>
              <a:srgbClr val="42A5F5">
                <a:alpha val="12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1333500" y="4953000"/>
            <a:ext cx="1143000" cy="1143000"/>
          </a:xfrm>
          <a:prstGeom prst="ellipse">
            <a:avLst/>
          </a:prstGeom>
          <a:noFill/>
          <a:ln w="9525">
            <a:solidFill>
              <a:srgbClr val="42A5F5">
                <a:alpha val="8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400175" y="1495425"/>
            <a:ext cx="57150" cy="57150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695450" y="1314450"/>
            <a:ext cx="38100" cy="381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976438" y="1595438"/>
            <a:ext cx="47625" cy="47625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925175" y="5686425"/>
            <a:ext cx="57150" cy="5715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1220450" y="5981700"/>
            <a:ext cx="38100" cy="381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10644188" y="5881688"/>
            <a:ext cx="47625" cy="47625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785265" y="2084070"/>
            <a:ext cx="2621470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张锦洋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143500" y="2952750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2A5F5">
                  <a:alpha val="60000"/>
                </a:srgbClr>
              </a:gs>
              <a:gs pos="50000">
                <a:srgbClr val="FFFFFF">
                  <a:alpha val="80000"/>
                </a:srgbClr>
              </a:gs>
              <a:gs pos="100000">
                <a:srgbClr val="42A5F5">
                  <a:alpha val="6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455920" y="3297555"/>
            <a:ext cx="12801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个人简历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43781" y="4426268"/>
            <a:ext cx="35044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65000"/>
                  </a:srgbClr>
                </a:solidFill>
                <a:latin typeface="Arial"/>
                <a:ea typeface="Microsoft YaHei"/>
                <a:cs typeface="Arial"/>
              </a:rPr>
              <a:t>人工智能专业 · 本科在读 · 18991321768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524500" y="5905500"/>
            <a:ext cx="1143000" cy="1905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10403421" y="1367371"/>
            <a:ext cx="249758" cy="237058"/>
            <a:chOff x="10403421" y="1367371"/>
            <a:chExt cx="249758" cy="237058"/>
          </a:xfrm>
        </p:grpSpPr>
        <p:sp>
          <p:nvSpPr>
            <p:cNvPr id="21" name="Freeform 21"/>
            <p:cNvSpPr/>
            <p:nvPr/>
          </p:nvSpPr>
          <p:spPr>
            <a:xfrm>
              <a:off x="10572750" y="1519771"/>
              <a:ext cx="80429" cy="84658"/>
            </a:xfrm>
            <a:custGeom>
              <a:avLst/>
              <a:gdLst/>
              <a:ahLst/>
              <a:cxnLst/>
              <a:rect l="l" t="t" r="r" b="b"/>
              <a:pathLst>
                <a:path w="80429" h="84658">
                  <a:moveTo>
                    <a:pt x="12700" y="55029"/>
                  </a:moveTo>
                  <a:cubicBezTo>
                    <a:pt x="5686" y="55029"/>
                    <a:pt x="0" y="49343"/>
                    <a:pt x="0" y="42329"/>
                  </a:cubicBezTo>
                  <a:cubicBezTo>
                    <a:pt x="0" y="35315"/>
                    <a:pt x="5686" y="29629"/>
                    <a:pt x="12700" y="29629"/>
                  </a:cubicBezTo>
                  <a:cubicBezTo>
                    <a:pt x="19714" y="29629"/>
                    <a:pt x="25400" y="23943"/>
                    <a:pt x="25400" y="16929"/>
                  </a:cubicBezTo>
                  <a:cubicBezTo>
                    <a:pt x="25400" y="0"/>
                    <a:pt x="50800" y="0"/>
                    <a:pt x="50800" y="16929"/>
                  </a:cubicBezTo>
                  <a:cubicBezTo>
                    <a:pt x="50800" y="23943"/>
                    <a:pt x="56486" y="29629"/>
                    <a:pt x="63500" y="29629"/>
                  </a:cubicBezTo>
                  <a:cubicBezTo>
                    <a:pt x="80429" y="29629"/>
                    <a:pt x="80429" y="55029"/>
                    <a:pt x="63500" y="55029"/>
                  </a:cubicBezTo>
                  <a:cubicBezTo>
                    <a:pt x="56486" y="55029"/>
                    <a:pt x="50800" y="60715"/>
                    <a:pt x="50800" y="67729"/>
                  </a:cubicBezTo>
                  <a:cubicBezTo>
                    <a:pt x="50800" y="84658"/>
                    <a:pt x="25400" y="84658"/>
                    <a:pt x="25400" y="67729"/>
                  </a:cubicBezTo>
                  <a:cubicBezTo>
                    <a:pt x="25400" y="60715"/>
                    <a:pt x="19714" y="55029"/>
                    <a:pt x="12700" y="550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403421" y="1392771"/>
              <a:ext cx="186258" cy="182029"/>
            </a:xfrm>
            <a:custGeom>
              <a:avLst/>
              <a:gdLst/>
              <a:ahLst/>
              <a:cxnLst/>
              <a:rect l="l" t="t" r="r" b="b"/>
              <a:pathLst>
                <a:path w="186258" h="182029">
                  <a:moveTo>
                    <a:pt x="16929" y="80429"/>
                  </a:moveTo>
                  <a:cubicBezTo>
                    <a:pt x="51999" y="80429"/>
                    <a:pt x="80429" y="51999"/>
                    <a:pt x="80429" y="16929"/>
                  </a:cubicBezTo>
                  <a:cubicBezTo>
                    <a:pt x="80429" y="0"/>
                    <a:pt x="105829" y="0"/>
                    <a:pt x="105829" y="16929"/>
                  </a:cubicBezTo>
                  <a:cubicBezTo>
                    <a:pt x="105829" y="51999"/>
                    <a:pt x="134259" y="80429"/>
                    <a:pt x="169329" y="80429"/>
                  </a:cubicBezTo>
                  <a:cubicBezTo>
                    <a:pt x="186258" y="80429"/>
                    <a:pt x="186258" y="105829"/>
                    <a:pt x="169329" y="105829"/>
                  </a:cubicBezTo>
                  <a:cubicBezTo>
                    <a:pt x="134259" y="105829"/>
                    <a:pt x="105829" y="134259"/>
                    <a:pt x="105829" y="169329"/>
                  </a:cubicBezTo>
                  <a:cubicBezTo>
                    <a:pt x="105829" y="176343"/>
                    <a:pt x="100143" y="182029"/>
                    <a:pt x="93129" y="182029"/>
                  </a:cubicBezTo>
                  <a:cubicBezTo>
                    <a:pt x="86115" y="182029"/>
                    <a:pt x="80429" y="176343"/>
                    <a:pt x="80429" y="169329"/>
                  </a:cubicBezTo>
                  <a:cubicBezTo>
                    <a:pt x="80429" y="134259"/>
                    <a:pt x="51999" y="105829"/>
                    <a:pt x="16929" y="105829"/>
                  </a:cubicBezTo>
                  <a:cubicBezTo>
                    <a:pt x="0" y="105829"/>
                    <a:pt x="0" y="80429"/>
                    <a:pt x="16929" y="804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0572750" y="1367371"/>
              <a:ext cx="80429" cy="84658"/>
            </a:xfrm>
            <a:custGeom>
              <a:avLst/>
              <a:gdLst/>
              <a:ahLst/>
              <a:cxnLst/>
              <a:rect l="l" t="t" r="r" b="b"/>
              <a:pathLst>
                <a:path w="80429" h="84658">
                  <a:moveTo>
                    <a:pt x="12700" y="55029"/>
                  </a:moveTo>
                  <a:cubicBezTo>
                    <a:pt x="5686" y="55029"/>
                    <a:pt x="0" y="49343"/>
                    <a:pt x="0" y="42329"/>
                  </a:cubicBezTo>
                  <a:cubicBezTo>
                    <a:pt x="0" y="35315"/>
                    <a:pt x="5686" y="29629"/>
                    <a:pt x="12700" y="29629"/>
                  </a:cubicBezTo>
                  <a:cubicBezTo>
                    <a:pt x="19714" y="29629"/>
                    <a:pt x="25400" y="23943"/>
                    <a:pt x="25400" y="16929"/>
                  </a:cubicBezTo>
                  <a:cubicBezTo>
                    <a:pt x="25400" y="0"/>
                    <a:pt x="50800" y="0"/>
                    <a:pt x="50800" y="16929"/>
                  </a:cubicBezTo>
                  <a:cubicBezTo>
                    <a:pt x="50800" y="23943"/>
                    <a:pt x="56486" y="29629"/>
                    <a:pt x="63500" y="29629"/>
                  </a:cubicBezTo>
                  <a:cubicBezTo>
                    <a:pt x="80429" y="29629"/>
                    <a:pt x="80429" y="55029"/>
                    <a:pt x="63500" y="55029"/>
                  </a:cubicBezTo>
                  <a:cubicBezTo>
                    <a:pt x="56486" y="55029"/>
                    <a:pt x="50800" y="60715"/>
                    <a:pt x="50800" y="67729"/>
                  </a:cubicBezTo>
                  <a:cubicBezTo>
                    <a:pt x="50800" y="84658"/>
                    <a:pt x="25400" y="84658"/>
                    <a:pt x="25400" y="67729"/>
                  </a:cubicBezTo>
                  <a:cubicBezTo>
                    <a:pt x="25400" y="60715"/>
                    <a:pt x="19714" y="55029"/>
                    <a:pt x="12700" y="550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28706" y="63798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1428750"/>
            <a:ext cx="3810000" cy="3810000"/>
          </a:xfrm>
          <a:prstGeom prst="ellipse">
            <a:avLst/>
          </a:prstGeom>
          <a:solidFill>
            <a:srgbClr val="1565C0">
              <a:alpha val="3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37210" y="2609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基本信息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7212" y="659606"/>
            <a:ext cx="17044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Personal Information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238250"/>
            <a:ext cx="3238500" cy="7620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44550" y="1492250"/>
            <a:ext cx="177800" cy="254000"/>
            <a:chOff x="844550" y="1492250"/>
            <a:chExt cx="177800" cy="254000"/>
          </a:xfrm>
        </p:grpSpPr>
        <p:sp>
          <p:nvSpPr>
            <p:cNvPr id="9" name="Freeform 9"/>
            <p:cNvSpPr/>
            <p:nvPr/>
          </p:nvSpPr>
          <p:spPr>
            <a:xfrm>
              <a:off x="869950" y="149225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98570" y="0"/>
                    <a:pt x="127000" y="28430"/>
                    <a:pt x="127000" y="63500"/>
                  </a:cubicBezTo>
                  <a:cubicBezTo>
                    <a:pt x="127000" y="98570"/>
                    <a:pt x="98570" y="127000"/>
                    <a:pt x="63500" y="127000"/>
                  </a:cubicBezTo>
                  <a:cubicBezTo>
                    <a:pt x="28430" y="127000"/>
                    <a:pt x="0" y="98570"/>
                    <a:pt x="0" y="63500"/>
                  </a:cubicBezTo>
                  <a:lnTo>
                    <a:pt x="64" y="60744"/>
                  </a:lnTo>
                  <a:cubicBezTo>
                    <a:pt x="1539" y="26779"/>
                    <a:pt x="29503" y="2"/>
                    <a:pt x="63500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44550" y="1644650"/>
              <a:ext cx="177800" cy="101600"/>
            </a:xfrm>
            <a:custGeom>
              <a:avLst/>
              <a:gdLst/>
              <a:ahLst/>
              <a:cxnLst/>
              <a:rect l="l" t="t" r="r" b="b"/>
              <a:pathLst>
                <a:path w="177800" h="101600">
                  <a:moveTo>
                    <a:pt x="114300" y="0"/>
                  </a:moveTo>
                  <a:cubicBezTo>
                    <a:pt x="149370" y="0"/>
                    <a:pt x="177800" y="28430"/>
                    <a:pt x="177800" y="63500"/>
                  </a:cubicBezTo>
                  <a:lnTo>
                    <a:pt x="177800" y="76200"/>
                  </a:lnTo>
                  <a:cubicBezTo>
                    <a:pt x="177800" y="90228"/>
                    <a:pt x="166428" y="101600"/>
                    <a:pt x="152400" y="101600"/>
                  </a:cubicBezTo>
                  <a:lnTo>
                    <a:pt x="25400" y="101600"/>
                  </a:lnTo>
                  <a:cubicBezTo>
                    <a:pt x="11372" y="101600"/>
                    <a:pt x="0" y="90228"/>
                    <a:pt x="0" y="762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lnTo>
                    <a:pt x="114300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219200" y="1409700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张锦洋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3962" y="1688306"/>
            <a:ext cx="1762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男 · 22岁 · 本科 · 群众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143125"/>
            <a:ext cx="3238500" cy="619125"/>
          </a:xfrm>
          <a:prstGeom prst="roundRect">
            <a:avLst>
              <a:gd name="adj" fmla="val 18462"/>
            </a:avLst>
          </a:prstGeom>
          <a:solidFill>
            <a:srgbClr val="F4F6F9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803275" y="2346325"/>
            <a:ext cx="222250" cy="222251"/>
            <a:chOff x="803275" y="2346325"/>
            <a:chExt cx="222250" cy="222251"/>
          </a:xfrm>
        </p:grpSpPr>
        <p:sp>
          <p:nvSpPr>
            <p:cNvPr id="15" name="Freeform 15"/>
            <p:cNvSpPr/>
            <p:nvPr/>
          </p:nvSpPr>
          <p:spPr>
            <a:xfrm>
              <a:off x="803275" y="2357438"/>
              <a:ext cx="211137" cy="211138"/>
            </a:xfrm>
            <a:custGeom>
              <a:avLst/>
              <a:gdLst/>
              <a:ahLst/>
              <a:cxnLst/>
              <a:rect l="l" t="t" r="r" b="b"/>
              <a:pathLst>
                <a:path w="211137" h="211138">
                  <a:moveTo>
                    <a:pt x="88100" y="6990"/>
                  </a:moveTo>
                  <a:lnTo>
                    <a:pt x="110325" y="62552"/>
                  </a:lnTo>
                  <a:cubicBezTo>
                    <a:pt x="112345" y="67614"/>
                    <a:pt x="110396" y="73393"/>
                    <a:pt x="105724" y="76198"/>
                  </a:cubicBezTo>
                  <a:lnTo>
                    <a:pt x="87166" y="87344"/>
                  </a:lnTo>
                  <a:cubicBezTo>
                    <a:pt x="96285" y="102298"/>
                    <a:pt x="108842" y="114859"/>
                    <a:pt x="123793" y="123982"/>
                  </a:cubicBezTo>
                  <a:lnTo>
                    <a:pt x="134939" y="105413"/>
                  </a:lnTo>
                  <a:cubicBezTo>
                    <a:pt x="137744" y="100741"/>
                    <a:pt x="143524" y="98793"/>
                    <a:pt x="148585" y="100813"/>
                  </a:cubicBezTo>
                  <a:lnTo>
                    <a:pt x="204148" y="123038"/>
                  </a:lnTo>
                  <a:cubicBezTo>
                    <a:pt x="208367" y="124723"/>
                    <a:pt x="211135" y="128807"/>
                    <a:pt x="211137" y="133350"/>
                  </a:cubicBezTo>
                  <a:lnTo>
                    <a:pt x="211137" y="177800"/>
                  </a:lnTo>
                  <a:cubicBezTo>
                    <a:pt x="211137" y="196213"/>
                    <a:pt x="196213" y="211138"/>
                    <a:pt x="177133" y="211115"/>
                  </a:cubicBezTo>
                  <a:cubicBezTo>
                    <a:pt x="81799" y="205326"/>
                    <a:pt x="5801" y="129327"/>
                    <a:pt x="0" y="33338"/>
                  </a:cubicBezTo>
                  <a:cubicBezTo>
                    <a:pt x="0" y="14926"/>
                    <a:pt x="14926" y="0"/>
                    <a:pt x="33338" y="0"/>
                  </a:cubicBezTo>
                  <a:lnTo>
                    <a:pt x="77787" y="0"/>
                  </a:lnTo>
                  <a:cubicBezTo>
                    <a:pt x="82331" y="3"/>
                    <a:pt x="86414" y="2771"/>
                    <a:pt x="88100" y="6990"/>
                  </a:cubicBezTo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36625" y="2390775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44450" y="33338"/>
                  </a:moveTo>
                  <a:cubicBezTo>
                    <a:pt x="44450" y="39475"/>
                    <a:pt x="39475" y="44450"/>
                    <a:pt x="33338" y="44450"/>
                  </a:cubicBezTo>
                  <a:cubicBezTo>
                    <a:pt x="27200" y="44450"/>
                    <a:pt x="22225" y="39475"/>
                    <a:pt x="22225" y="33338"/>
                  </a:cubicBezTo>
                  <a:cubicBezTo>
                    <a:pt x="22225" y="27200"/>
                    <a:pt x="17250" y="22225"/>
                    <a:pt x="11112" y="22225"/>
                  </a:cubicBezTo>
                  <a:cubicBezTo>
                    <a:pt x="4975" y="22225"/>
                    <a:pt x="0" y="17250"/>
                    <a:pt x="0" y="11112"/>
                  </a:cubicBezTo>
                  <a:cubicBezTo>
                    <a:pt x="0" y="4975"/>
                    <a:pt x="4975" y="0"/>
                    <a:pt x="11112" y="0"/>
                  </a:cubicBezTo>
                  <a:cubicBezTo>
                    <a:pt x="29524" y="0"/>
                    <a:pt x="44450" y="14926"/>
                    <a:pt x="44450" y="33338"/>
                  </a:cubicBezTo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36625" y="2346325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88900" y="77787"/>
                  </a:moveTo>
                  <a:cubicBezTo>
                    <a:pt x="88900" y="83925"/>
                    <a:pt x="83925" y="88900"/>
                    <a:pt x="77787" y="88900"/>
                  </a:cubicBezTo>
                  <a:cubicBezTo>
                    <a:pt x="71650" y="88900"/>
                    <a:pt x="66675" y="83925"/>
                    <a:pt x="66675" y="77787"/>
                  </a:cubicBezTo>
                  <a:cubicBezTo>
                    <a:pt x="66675" y="47101"/>
                    <a:pt x="41799" y="22225"/>
                    <a:pt x="11112" y="22225"/>
                  </a:cubicBezTo>
                  <a:cubicBezTo>
                    <a:pt x="4975" y="22225"/>
                    <a:pt x="0" y="17250"/>
                    <a:pt x="0" y="11112"/>
                  </a:cubicBezTo>
                  <a:cubicBezTo>
                    <a:pt x="0" y="4975"/>
                    <a:pt x="4975" y="0"/>
                    <a:pt x="11112" y="0"/>
                  </a:cubicBezTo>
                  <a:cubicBezTo>
                    <a:pt x="54073" y="0"/>
                    <a:pt x="88900" y="34827"/>
                    <a:pt x="88900" y="77787"/>
                  </a:cubicBezTo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23962" y="2240756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电话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1105" y="2445068"/>
            <a:ext cx="11315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18991321768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2905125"/>
            <a:ext cx="3238500" cy="619125"/>
          </a:xfrm>
          <a:prstGeom prst="roundRect">
            <a:avLst>
              <a:gd name="adj" fmla="val 18462"/>
            </a:avLst>
          </a:prstGeom>
          <a:solidFill>
            <a:srgbClr val="F4F6F9"/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803275" y="3130550"/>
            <a:ext cx="222251" cy="177801"/>
            <a:chOff x="803275" y="3130550"/>
            <a:chExt cx="222251" cy="177801"/>
          </a:xfrm>
        </p:grpSpPr>
        <p:sp>
          <p:nvSpPr>
            <p:cNvPr id="22" name="Freeform 22"/>
            <p:cNvSpPr/>
            <p:nvPr/>
          </p:nvSpPr>
          <p:spPr>
            <a:xfrm>
              <a:off x="803275" y="3169833"/>
              <a:ext cx="222251" cy="138518"/>
            </a:xfrm>
            <a:custGeom>
              <a:avLst/>
              <a:gdLst/>
              <a:ahLst/>
              <a:cxnLst/>
              <a:rect l="l" t="t" r="r" b="b"/>
              <a:pathLst>
                <a:path w="222251" h="138518">
                  <a:moveTo>
                    <a:pt x="222250" y="0"/>
                  </a:moveTo>
                  <a:lnTo>
                    <a:pt x="222250" y="105180"/>
                  </a:lnTo>
                  <a:cubicBezTo>
                    <a:pt x="222251" y="122833"/>
                    <a:pt x="208491" y="137426"/>
                    <a:pt x="190868" y="138462"/>
                  </a:cubicBezTo>
                  <a:lnTo>
                    <a:pt x="188912" y="138517"/>
                  </a:lnTo>
                  <a:lnTo>
                    <a:pt x="33338" y="138517"/>
                  </a:lnTo>
                  <a:cubicBezTo>
                    <a:pt x="15685" y="138518"/>
                    <a:pt x="1091" y="124758"/>
                    <a:pt x="56" y="107136"/>
                  </a:cubicBezTo>
                  <a:lnTo>
                    <a:pt x="0" y="105180"/>
                  </a:lnTo>
                  <a:lnTo>
                    <a:pt x="0" y="0"/>
                  </a:lnTo>
                  <a:lnTo>
                    <a:pt x="104958" y="69975"/>
                  </a:lnTo>
                  <a:lnTo>
                    <a:pt x="106247" y="70709"/>
                  </a:lnTo>
                  <a:cubicBezTo>
                    <a:pt x="109325" y="72213"/>
                    <a:pt x="112925" y="72213"/>
                    <a:pt x="116003" y="70709"/>
                  </a:cubicBezTo>
                  <a:lnTo>
                    <a:pt x="117292" y="69975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08220" y="3130550"/>
              <a:ext cx="212360" cy="86644"/>
            </a:xfrm>
            <a:custGeom>
              <a:avLst/>
              <a:gdLst/>
              <a:ahLst/>
              <a:cxnLst/>
              <a:rect l="l" t="t" r="r" b="b"/>
              <a:pathLst>
                <a:path w="212360" h="86644">
                  <a:moveTo>
                    <a:pt x="183967" y="0"/>
                  </a:moveTo>
                  <a:cubicBezTo>
                    <a:pt x="195969" y="0"/>
                    <a:pt x="206492" y="6334"/>
                    <a:pt x="212360" y="15858"/>
                  </a:cubicBezTo>
                  <a:lnTo>
                    <a:pt x="106180" y="86644"/>
                  </a:lnTo>
                  <a:lnTo>
                    <a:pt x="0" y="15858"/>
                  </a:lnTo>
                  <a:cubicBezTo>
                    <a:pt x="5653" y="6675"/>
                    <a:pt x="15400" y="796"/>
                    <a:pt x="26159" y="78"/>
                  </a:cubicBezTo>
                  <a:lnTo>
                    <a:pt x="28392" y="0"/>
                  </a:lnTo>
                  <a:lnTo>
                    <a:pt x="183967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223962" y="3002756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邮箱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1105" y="3207068"/>
            <a:ext cx="20113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3094084480@qq.com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3667125"/>
            <a:ext cx="3238500" cy="619125"/>
          </a:xfrm>
          <a:prstGeom prst="roundRect">
            <a:avLst>
              <a:gd name="adj" fmla="val 1846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804623" y="3860560"/>
            <a:ext cx="219666" cy="240711"/>
          </a:xfrm>
          <a:custGeom>
            <a:avLst/>
            <a:gdLst/>
            <a:ahLst/>
            <a:cxnLst/>
            <a:rect l="l" t="t" r="r" b="b"/>
            <a:pathLst>
              <a:path w="219666" h="240711">
                <a:moveTo>
                  <a:pt x="180497" y="39058"/>
                </a:moveTo>
                <a:cubicBezTo>
                  <a:pt x="218668" y="77223"/>
                  <a:pt x="219666" y="138792"/>
                  <a:pt x="182753" y="178175"/>
                </a:cubicBezTo>
                <a:lnTo>
                  <a:pt x="180497" y="180509"/>
                </a:lnTo>
                <a:lnTo>
                  <a:pt x="133347" y="227648"/>
                </a:lnTo>
                <a:cubicBezTo>
                  <a:pt x="120932" y="240055"/>
                  <a:pt x="101024" y="240711"/>
                  <a:pt x="87819" y="229148"/>
                </a:cubicBezTo>
                <a:lnTo>
                  <a:pt x="86219" y="227648"/>
                </a:lnTo>
                <a:lnTo>
                  <a:pt x="39058" y="180497"/>
                </a:lnTo>
                <a:cubicBezTo>
                  <a:pt x="0" y="141440"/>
                  <a:pt x="0" y="78115"/>
                  <a:pt x="39058" y="39058"/>
                </a:cubicBezTo>
                <a:cubicBezTo>
                  <a:pt x="78115" y="0"/>
                  <a:pt x="141440" y="0"/>
                  <a:pt x="180497" y="39058"/>
                </a:cubicBezTo>
                <a:close/>
                <a:moveTo>
                  <a:pt x="109777" y="76440"/>
                </a:moveTo>
                <a:cubicBezTo>
                  <a:pt x="91366" y="76440"/>
                  <a:pt x="76440" y="91366"/>
                  <a:pt x="76440" y="109777"/>
                </a:cubicBezTo>
                <a:cubicBezTo>
                  <a:pt x="76440" y="128189"/>
                  <a:pt x="91366" y="143115"/>
                  <a:pt x="109777" y="143115"/>
                </a:cubicBezTo>
                <a:cubicBezTo>
                  <a:pt x="128189" y="143115"/>
                  <a:pt x="143115" y="128189"/>
                  <a:pt x="143115" y="109777"/>
                </a:cubicBezTo>
                <a:cubicBezTo>
                  <a:pt x="143115" y="91366"/>
                  <a:pt x="128189" y="76440"/>
                  <a:pt x="109777" y="76440"/>
                </a:cubicBezTo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223962" y="3764756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地址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1105" y="396906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南宁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381500" y="1238250"/>
            <a:ext cx="7239000" cy="3048000"/>
          </a:xfrm>
          <a:prstGeom prst="roundRect">
            <a:avLst>
              <a:gd name="adj" fmla="val 5000"/>
            </a:avLst>
          </a:prstGeom>
          <a:solidFill>
            <a:srgbClr val="1565C0">
              <a:alpha val="4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835902" y="1863090"/>
            <a:ext cx="233019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1565C0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张锦洋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36568" y="2869882"/>
            <a:ext cx="27288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0D47A1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人工智能专业 · 本科在读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762500" y="3619500"/>
            <a:ext cx="1524000" cy="38100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225552" y="3745706"/>
            <a:ext cx="597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Python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477000" y="3619500"/>
            <a:ext cx="1524000" cy="38100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082382" y="3745706"/>
            <a:ext cx="3132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C++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191500" y="3619500"/>
            <a:ext cx="1524000" cy="38100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732187" y="3745706"/>
            <a:ext cx="4426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ROS2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906000" y="3619500"/>
            <a:ext cx="1524000" cy="38100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0438061" y="3745706"/>
            <a:ext cx="4598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Linux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4667250"/>
            <a:ext cx="11049000" cy="133350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868537" y="5010150"/>
            <a:ext cx="317325" cy="228600"/>
          </a:xfrm>
          <a:custGeom>
            <a:avLst/>
            <a:gdLst/>
            <a:ahLst/>
            <a:cxnLst/>
            <a:rect l="l" t="t" r="r" b="b"/>
            <a:pathLst>
              <a:path w="317325" h="228600">
                <a:moveTo>
                  <a:pt x="260175" y="134745"/>
                </a:moveTo>
                <a:lnTo>
                  <a:pt x="260175" y="171450"/>
                </a:lnTo>
                <a:cubicBezTo>
                  <a:pt x="260175" y="205711"/>
                  <a:pt x="214384" y="228600"/>
                  <a:pt x="160163" y="228600"/>
                </a:cubicBezTo>
                <a:cubicBezTo>
                  <a:pt x="105942" y="228600"/>
                  <a:pt x="60150" y="205711"/>
                  <a:pt x="60150" y="171450"/>
                </a:cubicBezTo>
                <a:lnTo>
                  <a:pt x="60150" y="134745"/>
                </a:lnTo>
                <a:lnTo>
                  <a:pt x="144247" y="168378"/>
                </a:lnTo>
                <a:cubicBezTo>
                  <a:pt x="153410" y="172047"/>
                  <a:pt x="163559" y="172440"/>
                  <a:pt x="172979" y="169493"/>
                </a:cubicBezTo>
                <a:lnTo>
                  <a:pt x="176079" y="168378"/>
                </a:lnTo>
                <a:close/>
                <a:moveTo>
                  <a:pt x="288750" y="92526"/>
                </a:moveTo>
                <a:lnTo>
                  <a:pt x="165464" y="141846"/>
                </a:lnTo>
                <a:cubicBezTo>
                  <a:pt x="162061" y="143206"/>
                  <a:pt x="158265" y="143206"/>
                  <a:pt x="154862" y="141846"/>
                </a:cubicBezTo>
                <a:lnTo>
                  <a:pt x="11987" y="84696"/>
                </a:lnTo>
                <a:cubicBezTo>
                  <a:pt x="0" y="79910"/>
                  <a:pt x="0" y="62965"/>
                  <a:pt x="11987" y="58179"/>
                </a:cubicBezTo>
                <a:lnTo>
                  <a:pt x="154862" y="1029"/>
                </a:lnTo>
                <a:cubicBezTo>
                  <a:pt x="155986" y="577"/>
                  <a:pt x="157162" y="270"/>
                  <a:pt x="158363" y="114"/>
                </a:cubicBezTo>
                <a:lnTo>
                  <a:pt x="160163" y="0"/>
                </a:lnTo>
                <a:lnTo>
                  <a:pt x="161963" y="114"/>
                </a:lnTo>
                <a:cubicBezTo>
                  <a:pt x="163164" y="270"/>
                  <a:pt x="164340" y="577"/>
                  <a:pt x="165464" y="1029"/>
                </a:cubicBezTo>
                <a:lnTo>
                  <a:pt x="308796" y="58364"/>
                </a:lnTo>
                <a:lnTo>
                  <a:pt x="310339" y="59150"/>
                </a:lnTo>
                <a:lnTo>
                  <a:pt x="311753" y="60122"/>
                </a:lnTo>
                <a:lnTo>
                  <a:pt x="313011" y="61208"/>
                </a:lnTo>
                <a:lnTo>
                  <a:pt x="314082" y="62379"/>
                </a:lnTo>
                <a:lnTo>
                  <a:pt x="314582" y="63008"/>
                </a:lnTo>
                <a:lnTo>
                  <a:pt x="315625" y="64651"/>
                </a:lnTo>
                <a:lnTo>
                  <a:pt x="316368" y="66294"/>
                </a:lnTo>
                <a:lnTo>
                  <a:pt x="316854" y="67751"/>
                </a:lnTo>
                <a:lnTo>
                  <a:pt x="317211" y="69680"/>
                </a:lnTo>
                <a:lnTo>
                  <a:pt x="317297" y="70509"/>
                </a:lnTo>
                <a:lnTo>
                  <a:pt x="317325" y="157162"/>
                </a:lnTo>
                <a:cubicBezTo>
                  <a:pt x="317325" y="165053"/>
                  <a:pt x="310929" y="171450"/>
                  <a:pt x="303038" y="171450"/>
                </a:cubicBezTo>
                <a:cubicBezTo>
                  <a:pt x="295147" y="171450"/>
                  <a:pt x="288750" y="165053"/>
                  <a:pt x="288750" y="157162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360170" y="491775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广西民族大学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65885" y="5223510"/>
            <a:ext cx="29660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人工智能专业 · 本科 · 2023.9 ~ 至今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66838" y="549830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在校生 · 主攻AI与机器人方向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9558337" y="5022537"/>
            <a:ext cx="200027" cy="222564"/>
            <a:chOff x="9558337" y="5022537"/>
            <a:chExt cx="200027" cy="222564"/>
          </a:xfrm>
        </p:grpSpPr>
        <p:sp>
          <p:nvSpPr>
            <p:cNvPr id="47" name="Freeform 47"/>
            <p:cNvSpPr/>
            <p:nvPr/>
          </p:nvSpPr>
          <p:spPr>
            <a:xfrm>
              <a:off x="9558337" y="5022537"/>
              <a:ext cx="200027" cy="222564"/>
            </a:xfrm>
            <a:custGeom>
              <a:avLst/>
              <a:gdLst/>
              <a:ahLst/>
              <a:cxnLst/>
              <a:rect l="l" t="t" r="r" b="b"/>
              <a:pathLst>
                <a:path w="200027" h="222564">
                  <a:moveTo>
                    <a:pt x="144463" y="313"/>
                  </a:moveTo>
                  <a:cubicBezTo>
                    <a:pt x="150097" y="314"/>
                    <a:pt x="154839" y="4530"/>
                    <a:pt x="155498" y="10125"/>
                  </a:cubicBezTo>
                  <a:lnTo>
                    <a:pt x="155576" y="11426"/>
                  </a:lnTo>
                  <a:lnTo>
                    <a:pt x="155576" y="22538"/>
                  </a:lnTo>
                  <a:lnTo>
                    <a:pt x="166688" y="22538"/>
                  </a:lnTo>
                  <a:cubicBezTo>
                    <a:pt x="184341" y="22537"/>
                    <a:pt x="198935" y="36297"/>
                    <a:pt x="199970" y="53920"/>
                  </a:cubicBezTo>
                  <a:lnTo>
                    <a:pt x="200026" y="55876"/>
                  </a:lnTo>
                  <a:lnTo>
                    <a:pt x="200026" y="189226"/>
                  </a:lnTo>
                  <a:cubicBezTo>
                    <a:pt x="200027" y="206878"/>
                    <a:pt x="186267" y="221472"/>
                    <a:pt x="168644" y="222508"/>
                  </a:cubicBezTo>
                  <a:lnTo>
                    <a:pt x="166688" y="222563"/>
                  </a:lnTo>
                  <a:lnTo>
                    <a:pt x="33338" y="222563"/>
                  </a:lnTo>
                  <a:cubicBezTo>
                    <a:pt x="15686" y="222564"/>
                    <a:pt x="1092" y="208804"/>
                    <a:pt x="57" y="191181"/>
                  </a:cubicBezTo>
                  <a:lnTo>
                    <a:pt x="1" y="189226"/>
                  </a:lnTo>
                  <a:lnTo>
                    <a:pt x="1" y="55876"/>
                  </a:lnTo>
                  <a:cubicBezTo>
                    <a:pt x="0" y="38223"/>
                    <a:pt x="13760" y="23629"/>
                    <a:pt x="31383" y="22594"/>
                  </a:cubicBezTo>
                  <a:lnTo>
                    <a:pt x="33338" y="22538"/>
                  </a:lnTo>
                  <a:lnTo>
                    <a:pt x="44451" y="22538"/>
                  </a:lnTo>
                  <a:lnTo>
                    <a:pt x="44451" y="11426"/>
                  </a:lnTo>
                  <a:cubicBezTo>
                    <a:pt x="44458" y="5546"/>
                    <a:pt x="49043" y="689"/>
                    <a:pt x="54912" y="345"/>
                  </a:cubicBezTo>
                  <a:cubicBezTo>
                    <a:pt x="60782" y="0"/>
                    <a:pt x="65904" y="4287"/>
                    <a:pt x="66598" y="10125"/>
                  </a:cubicBezTo>
                  <a:lnTo>
                    <a:pt x="66676" y="11426"/>
                  </a:lnTo>
                  <a:lnTo>
                    <a:pt x="66676" y="22538"/>
                  </a:lnTo>
                  <a:lnTo>
                    <a:pt x="133351" y="22538"/>
                  </a:lnTo>
                  <a:lnTo>
                    <a:pt x="133351" y="11426"/>
                  </a:lnTo>
                  <a:cubicBezTo>
                    <a:pt x="133351" y="5288"/>
                    <a:pt x="138326" y="313"/>
                    <a:pt x="144463" y="313"/>
                  </a:cubicBezTo>
                  <a:close/>
                  <a:moveTo>
                    <a:pt x="177801" y="78101"/>
                  </a:moveTo>
                  <a:lnTo>
                    <a:pt x="22226" y="78101"/>
                  </a:lnTo>
                  <a:lnTo>
                    <a:pt x="22226" y="185058"/>
                  </a:lnTo>
                  <a:cubicBezTo>
                    <a:pt x="22226" y="192893"/>
                    <a:pt x="26515" y="199349"/>
                    <a:pt x="32038" y="200238"/>
                  </a:cubicBezTo>
                  <a:lnTo>
                    <a:pt x="33338" y="200338"/>
                  </a:lnTo>
                  <a:lnTo>
                    <a:pt x="166688" y="200338"/>
                  </a:lnTo>
                  <a:cubicBezTo>
                    <a:pt x="172389" y="200338"/>
                    <a:pt x="177090" y="194449"/>
                    <a:pt x="177723" y="186836"/>
                  </a:cubicBezTo>
                  <a:lnTo>
                    <a:pt x="177801" y="185058"/>
                  </a:lnTo>
                  <a:lnTo>
                    <a:pt x="177801" y="7810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635812" y="5133975"/>
              <a:ext cx="33651" cy="55876"/>
            </a:xfrm>
            <a:custGeom>
              <a:avLst/>
              <a:gdLst/>
              <a:ahLst/>
              <a:cxnLst/>
              <a:rect l="l" t="t" r="r" b="b"/>
              <a:pathLst>
                <a:path w="33651" h="55876">
                  <a:moveTo>
                    <a:pt x="22538" y="0"/>
                  </a:moveTo>
                  <a:cubicBezTo>
                    <a:pt x="28172" y="1"/>
                    <a:pt x="32914" y="4217"/>
                    <a:pt x="33573" y="9812"/>
                  </a:cubicBezTo>
                  <a:lnTo>
                    <a:pt x="33651" y="11112"/>
                  </a:lnTo>
                  <a:lnTo>
                    <a:pt x="33651" y="44450"/>
                  </a:lnTo>
                  <a:cubicBezTo>
                    <a:pt x="33644" y="50330"/>
                    <a:pt x="29059" y="55187"/>
                    <a:pt x="23189" y="55531"/>
                  </a:cubicBezTo>
                  <a:cubicBezTo>
                    <a:pt x="17320" y="55876"/>
                    <a:pt x="12198" y="51589"/>
                    <a:pt x="11503" y="45750"/>
                  </a:cubicBezTo>
                  <a:lnTo>
                    <a:pt x="11426" y="44450"/>
                  </a:lnTo>
                  <a:lnTo>
                    <a:pt x="11426" y="22225"/>
                  </a:lnTo>
                  <a:cubicBezTo>
                    <a:pt x="5546" y="22218"/>
                    <a:pt x="689" y="17633"/>
                    <a:pt x="345" y="11764"/>
                  </a:cubicBezTo>
                  <a:cubicBezTo>
                    <a:pt x="0" y="5894"/>
                    <a:pt x="4287" y="772"/>
                    <a:pt x="10125" y="78"/>
                  </a:cubicBezTo>
                  <a:lnTo>
                    <a:pt x="11426" y="0"/>
                  </a:lnTo>
                  <a:lnTo>
                    <a:pt x="22538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</p:sp>
      </p:grpSp>
      <p:sp>
        <p:nvSpPr>
          <p:cNvPr id="50" name="TextBox 50"/>
          <p:cNvSpPr txBox="1"/>
          <p:nvPr/>
        </p:nvSpPr>
        <p:spPr>
          <a:xfrm>
            <a:off x="9891712" y="508873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大二在读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2015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02 / 13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0070" y="6570345"/>
            <a:ext cx="1094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张锦洋 · 个人简历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048750" y="3333750"/>
            <a:ext cx="4762500" cy="4762500"/>
          </a:xfrm>
          <a:prstGeom prst="ellipse">
            <a:avLst/>
          </a:prstGeom>
          <a:solidFill>
            <a:srgbClr val="1565C0">
              <a:alpha val="3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37210" y="2609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教育经历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7212" y="659606"/>
            <a:ext cx="8008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Education</a:t>
            </a:r>
          </a:p>
        </p:txBody>
      </p:sp>
      <p:sp>
        <p:nvSpPr>
          <p:cNvPr id="8" name="Line 8"/>
          <p:cNvSpPr/>
          <p:nvPr/>
        </p:nvSpPr>
        <p:spPr>
          <a:xfrm>
            <a:off x="3048000" y="1809750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sp>
        <p:nvSpPr>
          <p:cNvPr id="9" name="Ellipse 9"/>
          <p:cNvSpPr/>
          <p:nvPr/>
        </p:nvSpPr>
        <p:spPr>
          <a:xfrm>
            <a:off x="2933700" y="2552700"/>
            <a:ext cx="228600" cy="2286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2857500" y="2476500"/>
            <a:ext cx="381000" cy="381000"/>
          </a:xfrm>
          <a:prstGeom prst="ellipse">
            <a:avLst/>
          </a:prstGeom>
          <a:solidFill>
            <a:srgbClr val="1565C0">
              <a:alpha val="15000"/>
            </a:srgb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619500" y="1524000"/>
            <a:ext cx="723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3619500" y="1524000"/>
            <a:ext cx="57150" cy="1905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5400000" scaled="1"/>
          </a:gra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4013041" y="1920875"/>
            <a:ext cx="352584" cy="254000"/>
          </a:xfrm>
          <a:custGeom>
            <a:avLst/>
            <a:gdLst/>
            <a:ahLst/>
            <a:cxnLst/>
            <a:rect l="l" t="t" r="r" b="b"/>
            <a:pathLst>
              <a:path w="352584" h="254000">
                <a:moveTo>
                  <a:pt x="289084" y="149717"/>
                </a:moveTo>
                <a:lnTo>
                  <a:pt x="289084" y="190500"/>
                </a:lnTo>
                <a:cubicBezTo>
                  <a:pt x="289084" y="228568"/>
                  <a:pt x="238204" y="254000"/>
                  <a:pt x="177959" y="254000"/>
                </a:cubicBezTo>
                <a:cubicBezTo>
                  <a:pt x="117713" y="254000"/>
                  <a:pt x="66834" y="228568"/>
                  <a:pt x="66834" y="190500"/>
                </a:cubicBezTo>
                <a:lnTo>
                  <a:pt x="66834" y="149717"/>
                </a:lnTo>
                <a:lnTo>
                  <a:pt x="160274" y="187087"/>
                </a:lnTo>
                <a:cubicBezTo>
                  <a:pt x="170456" y="191163"/>
                  <a:pt x="181732" y="191601"/>
                  <a:pt x="192199" y="188325"/>
                </a:cubicBezTo>
                <a:lnTo>
                  <a:pt x="195644" y="187087"/>
                </a:lnTo>
                <a:close/>
                <a:moveTo>
                  <a:pt x="320834" y="102807"/>
                </a:moveTo>
                <a:lnTo>
                  <a:pt x="183848" y="157607"/>
                </a:lnTo>
                <a:cubicBezTo>
                  <a:pt x="180067" y="159118"/>
                  <a:pt x="175850" y="159118"/>
                  <a:pt x="172069" y="157607"/>
                </a:cubicBezTo>
                <a:lnTo>
                  <a:pt x="13319" y="94107"/>
                </a:lnTo>
                <a:cubicBezTo>
                  <a:pt x="0" y="88789"/>
                  <a:pt x="0" y="69961"/>
                  <a:pt x="13319" y="64643"/>
                </a:cubicBezTo>
                <a:lnTo>
                  <a:pt x="172069" y="1143"/>
                </a:lnTo>
                <a:cubicBezTo>
                  <a:pt x="173317" y="641"/>
                  <a:pt x="174624" y="299"/>
                  <a:pt x="175959" y="127"/>
                </a:cubicBezTo>
                <a:lnTo>
                  <a:pt x="177959" y="0"/>
                </a:lnTo>
                <a:lnTo>
                  <a:pt x="179959" y="127"/>
                </a:lnTo>
                <a:cubicBezTo>
                  <a:pt x="181293" y="299"/>
                  <a:pt x="182600" y="641"/>
                  <a:pt x="183848" y="1143"/>
                </a:cubicBezTo>
                <a:lnTo>
                  <a:pt x="343106" y="64849"/>
                </a:lnTo>
                <a:lnTo>
                  <a:pt x="344821" y="65723"/>
                </a:lnTo>
                <a:lnTo>
                  <a:pt x="346393" y="66802"/>
                </a:lnTo>
                <a:lnTo>
                  <a:pt x="347789" y="68009"/>
                </a:lnTo>
                <a:lnTo>
                  <a:pt x="348980" y="69310"/>
                </a:lnTo>
                <a:lnTo>
                  <a:pt x="349536" y="70009"/>
                </a:lnTo>
                <a:lnTo>
                  <a:pt x="350695" y="71834"/>
                </a:lnTo>
                <a:lnTo>
                  <a:pt x="351520" y="73660"/>
                </a:lnTo>
                <a:lnTo>
                  <a:pt x="352060" y="75279"/>
                </a:lnTo>
                <a:lnTo>
                  <a:pt x="352457" y="77422"/>
                </a:lnTo>
                <a:lnTo>
                  <a:pt x="352552" y="78343"/>
                </a:lnTo>
                <a:lnTo>
                  <a:pt x="352584" y="174625"/>
                </a:lnTo>
                <a:cubicBezTo>
                  <a:pt x="352584" y="183393"/>
                  <a:pt x="345476" y="190500"/>
                  <a:pt x="336709" y="190500"/>
                </a:cubicBezTo>
                <a:cubicBezTo>
                  <a:pt x="327941" y="190500"/>
                  <a:pt x="320834" y="183393"/>
                  <a:pt x="320834" y="174625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545330" y="177355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广西民族大学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52950" y="2124075"/>
            <a:ext cx="19878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人工智能专业 | 本科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029074" y="2638157"/>
            <a:ext cx="171452" cy="190769"/>
            <a:chOff x="4029074" y="2638157"/>
            <a:chExt cx="171452" cy="190769"/>
          </a:xfrm>
        </p:grpSpPr>
        <p:sp>
          <p:nvSpPr>
            <p:cNvPr id="16" name="Freeform 16"/>
            <p:cNvSpPr/>
            <p:nvPr/>
          </p:nvSpPr>
          <p:spPr>
            <a:xfrm>
              <a:off x="4029074" y="2638157"/>
              <a:ext cx="171452" cy="190769"/>
            </a:xfrm>
            <a:custGeom>
              <a:avLst/>
              <a:gdLst/>
              <a:ahLst/>
              <a:cxnLst/>
              <a:rect l="l" t="t" r="r" b="b"/>
              <a:pathLst>
                <a:path w="171452" h="190769">
                  <a:moveTo>
                    <a:pt x="123826" y="268"/>
                  </a:moveTo>
                  <a:cubicBezTo>
                    <a:pt x="128655" y="269"/>
                    <a:pt x="132719" y="3883"/>
                    <a:pt x="133284" y="8679"/>
                  </a:cubicBezTo>
                  <a:lnTo>
                    <a:pt x="133351" y="9793"/>
                  </a:lnTo>
                  <a:lnTo>
                    <a:pt x="133351" y="19318"/>
                  </a:lnTo>
                  <a:lnTo>
                    <a:pt x="142876" y="19318"/>
                  </a:lnTo>
                  <a:cubicBezTo>
                    <a:pt x="158007" y="19318"/>
                    <a:pt x="170516" y="31112"/>
                    <a:pt x="171403" y="46217"/>
                  </a:cubicBezTo>
                  <a:lnTo>
                    <a:pt x="171451" y="47893"/>
                  </a:lnTo>
                  <a:lnTo>
                    <a:pt x="171451" y="162193"/>
                  </a:lnTo>
                  <a:cubicBezTo>
                    <a:pt x="171452" y="177324"/>
                    <a:pt x="159657" y="189833"/>
                    <a:pt x="144552" y="190721"/>
                  </a:cubicBezTo>
                  <a:lnTo>
                    <a:pt x="142876" y="190768"/>
                  </a:lnTo>
                  <a:lnTo>
                    <a:pt x="28576" y="190768"/>
                  </a:lnTo>
                  <a:cubicBezTo>
                    <a:pt x="13445" y="190769"/>
                    <a:pt x="936" y="178975"/>
                    <a:pt x="48" y="163870"/>
                  </a:cubicBezTo>
                  <a:lnTo>
                    <a:pt x="1" y="162193"/>
                  </a:lnTo>
                  <a:lnTo>
                    <a:pt x="1" y="47893"/>
                  </a:lnTo>
                  <a:cubicBezTo>
                    <a:pt x="0" y="32762"/>
                    <a:pt x="11794" y="20254"/>
                    <a:pt x="26899" y="19366"/>
                  </a:cubicBezTo>
                  <a:lnTo>
                    <a:pt x="28576" y="19318"/>
                  </a:lnTo>
                  <a:lnTo>
                    <a:pt x="38101" y="19318"/>
                  </a:lnTo>
                  <a:lnTo>
                    <a:pt x="38101" y="9793"/>
                  </a:lnTo>
                  <a:cubicBezTo>
                    <a:pt x="38106" y="4754"/>
                    <a:pt x="42037" y="591"/>
                    <a:pt x="47068" y="295"/>
                  </a:cubicBezTo>
                  <a:cubicBezTo>
                    <a:pt x="52099" y="0"/>
                    <a:pt x="56489" y="3675"/>
                    <a:pt x="57084" y="8679"/>
                  </a:cubicBezTo>
                  <a:lnTo>
                    <a:pt x="57151" y="9793"/>
                  </a:lnTo>
                  <a:lnTo>
                    <a:pt x="57151" y="19318"/>
                  </a:lnTo>
                  <a:lnTo>
                    <a:pt x="114301" y="19318"/>
                  </a:lnTo>
                  <a:lnTo>
                    <a:pt x="114301" y="9793"/>
                  </a:lnTo>
                  <a:cubicBezTo>
                    <a:pt x="114301" y="4533"/>
                    <a:pt x="118565" y="268"/>
                    <a:pt x="123826" y="268"/>
                  </a:cubicBezTo>
                  <a:close/>
                  <a:moveTo>
                    <a:pt x="152401" y="66943"/>
                  </a:moveTo>
                  <a:lnTo>
                    <a:pt x="19051" y="66943"/>
                  </a:lnTo>
                  <a:lnTo>
                    <a:pt x="19051" y="158622"/>
                  </a:lnTo>
                  <a:cubicBezTo>
                    <a:pt x="19051" y="165337"/>
                    <a:pt x="22727" y="170871"/>
                    <a:pt x="27461" y="171633"/>
                  </a:cubicBezTo>
                  <a:lnTo>
                    <a:pt x="28576" y="171718"/>
                  </a:lnTo>
                  <a:lnTo>
                    <a:pt x="142876" y="171718"/>
                  </a:lnTo>
                  <a:cubicBezTo>
                    <a:pt x="147762" y="171718"/>
                    <a:pt x="151791" y="166670"/>
                    <a:pt x="152334" y="160146"/>
                  </a:cubicBezTo>
                  <a:lnTo>
                    <a:pt x="152401" y="158622"/>
                  </a:lnTo>
                  <a:lnTo>
                    <a:pt x="152401" y="66943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095482" y="2733675"/>
              <a:ext cx="28843" cy="47893"/>
            </a:xfrm>
            <a:custGeom>
              <a:avLst/>
              <a:gdLst/>
              <a:ahLst/>
              <a:cxnLst/>
              <a:rect l="l" t="t" r="r" b="b"/>
              <a:pathLst>
                <a:path w="28843" h="47893">
                  <a:moveTo>
                    <a:pt x="19318" y="0"/>
                  </a:moveTo>
                  <a:cubicBezTo>
                    <a:pt x="24147" y="1"/>
                    <a:pt x="28212" y="3615"/>
                    <a:pt x="28777" y="8411"/>
                  </a:cubicBezTo>
                  <a:lnTo>
                    <a:pt x="28843" y="9525"/>
                  </a:lnTo>
                  <a:lnTo>
                    <a:pt x="28843" y="38100"/>
                  </a:lnTo>
                  <a:cubicBezTo>
                    <a:pt x="28838" y="43140"/>
                    <a:pt x="24908" y="47303"/>
                    <a:pt x="19877" y="47598"/>
                  </a:cubicBezTo>
                  <a:cubicBezTo>
                    <a:pt x="14846" y="47893"/>
                    <a:pt x="10455" y="44219"/>
                    <a:pt x="9860" y="39214"/>
                  </a:cubicBezTo>
                  <a:lnTo>
                    <a:pt x="9793" y="38100"/>
                  </a:lnTo>
                  <a:lnTo>
                    <a:pt x="9793" y="19050"/>
                  </a:lnTo>
                  <a:cubicBezTo>
                    <a:pt x="4754" y="19044"/>
                    <a:pt x="591" y="15114"/>
                    <a:pt x="295" y="10083"/>
                  </a:cubicBezTo>
                  <a:cubicBezTo>
                    <a:pt x="0" y="5052"/>
                    <a:pt x="3675" y="662"/>
                    <a:pt x="8679" y="67"/>
                  </a:cubicBezTo>
                  <a:lnTo>
                    <a:pt x="9793" y="0"/>
                  </a:lnTo>
                  <a:lnTo>
                    <a:pt x="19318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4364355" y="2664142"/>
            <a:ext cx="23214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2023.9 ~ 至今 · 大二在读</a:t>
            </a:r>
          </a:p>
        </p:txBody>
      </p:sp>
      <p:sp>
        <p:nvSpPr>
          <p:cNvPr id="20" name="Freeform 20"/>
          <p:cNvSpPr/>
          <p:nvPr/>
        </p:nvSpPr>
        <p:spPr>
          <a:xfrm>
            <a:off x="4019550" y="3080206"/>
            <a:ext cx="190500" cy="158719"/>
          </a:xfrm>
          <a:custGeom>
            <a:avLst/>
            <a:gdLst/>
            <a:ahLst/>
            <a:cxnLst/>
            <a:rect l="l" t="t" r="r" b="b"/>
            <a:pathLst>
              <a:path w="190500" h="158719">
                <a:moveTo>
                  <a:pt x="185738" y="16695"/>
                </a:moveTo>
                <a:cubicBezTo>
                  <a:pt x="188339" y="18197"/>
                  <a:pt x="190079" y="20837"/>
                  <a:pt x="190433" y="23820"/>
                </a:cubicBezTo>
                <a:lnTo>
                  <a:pt x="190500" y="24944"/>
                </a:lnTo>
                <a:lnTo>
                  <a:pt x="190500" y="148769"/>
                </a:lnTo>
                <a:cubicBezTo>
                  <a:pt x="190500" y="152172"/>
                  <a:pt x="188684" y="155316"/>
                  <a:pt x="185737" y="157017"/>
                </a:cubicBezTo>
                <a:cubicBezTo>
                  <a:pt x="182790" y="158719"/>
                  <a:pt x="179160" y="158719"/>
                  <a:pt x="176213" y="157017"/>
                </a:cubicBezTo>
                <a:cubicBezTo>
                  <a:pt x="154298" y="144363"/>
                  <a:pt x="127531" y="143414"/>
                  <a:pt x="104775" y="154484"/>
                </a:cubicBezTo>
                <a:lnTo>
                  <a:pt x="104775" y="9951"/>
                </a:lnTo>
                <a:cubicBezTo>
                  <a:pt x="131416" y="0"/>
                  <a:pt x="161110" y="2473"/>
                  <a:pt x="185738" y="16695"/>
                </a:cubicBezTo>
                <a:moveTo>
                  <a:pt x="85725" y="9961"/>
                </a:moveTo>
                <a:lnTo>
                  <a:pt x="85735" y="154493"/>
                </a:lnTo>
                <a:cubicBezTo>
                  <a:pt x="63901" y="143864"/>
                  <a:pt x="38309" y="144278"/>
                  <a:pt x="16831" y="155608"/>
                </a:cubicBezTo>
                <a:lnTo>
                  <a:pt x="13716" y="157322"/>
                </a:lnTo>
                <a:lnTo>
                  <a:pt x="12735" y="157741"/>
                </a:lnTo>
                <a:lnTo>
                  <a:pt x="12268" y="157894"/>
                </a:lnTo>
                <a:lnTo>
                  <a:pt x="11220" y="158141"/>
                </a:lnTo>
                <a:lnTo>
                  <a:pt x="10639" y="158237"/>
                </a:lnTo>
                <a:lnTo>
                  <a:pt x="9525" y="158294"/>
                </a:lnTo>
                <a:lnTo>
                  <a:pt x="9125" y="158294"/>
                </a:lnTo>
                <a:lnTo>
                  <a:pt x="8077" y="158179"/>
                </a:lnTo>
                <a:lnTo>
                  <a:pt x="7344" y="158046"/>
                </a:lnTo>
                <a:lnTo>
                  <a:pt x="6315" y="157741"/>
                </a:lnTo>
                <a:lnTo>
                  <a:pt x="5115" y="157208"/>
                </a:lnTo>
                <a:lnTo>
                  <a:pt x="4210" y="156674"/>
                </a:lnTo>
                <a:lnTo>
                  <a:pt x="3362" y="156036"/>
                </a:lnTo>
                <a:lnTo>
                  <a:pt x="2791" y="155503"/>
                </a:lnTo>
                <a:lnTo>
                  <a:pt x="2096" y="154722"/>
                </a:lnTo>
                <a:lnTo>
                  <a:pt x="1486" y="153874"/>
                </a:lnTo>
                <a:lnTo>
                  <a:pt x="1276" y="153531"/>
                </a:lnTo>
                <a:lnTo>
                  <a:pt x="972" y="152960"/>
                </a:lnTo>
                <a:lnTo>
                  <a:pt x="552" y="151979"/>
                </a:lnTo>
                <a:lnTo>
                  <a:pt x="400" y="151512"/>
                </a:lnTo>
                <a:lnTo>
                  <a:pt x="152" y="150464"/>
                </a:lnTo>
                <a:lnTo>
                  <a:pt x="57" y="149883"/>
                </a:lnTo>
                <a:lnTo>
                  <a:pt x="19" y="149416"/>
                </a:lnTo>
                <a:lnTo>
                  <a:pt x="0" y="24944"/>
                </a:lnTo>
                <a:cubicBezTo>
                  <a:pt x="0" y="21541"/>
                  <a:pt x="1816" y="18396"/>
                  <a:pt x="4762" y="16695"/>
                </a:cubicBezTo>
                <a:cubicBezTo>
                  <a:pt x="29391" y="2476"/>
                  <a:pt x="59085" y="7"/>
                  <a:pt x="85725" y="9961"/>
                </a:cubicBezTo>
              </a:path>
            </a:pathLst>
          </a:custGeom>
          <a:solidFill>
            <a:srgbClr val="61616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366260" y="3108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主修课程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000500" y="342900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299585" y="35442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人工智能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81625" y="342900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680710" y="35442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机器学习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762750" y="342900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061835" y="35442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深度学习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143875" y="342900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289608" y="35442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自然语言处理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000500" y="3857625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222909" y="397287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计算机视觉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381625" y="3857625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450681" y="39728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数据结构与算法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762750" y="3857625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985159" y="397287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数据库原理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143875" y="3857625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442960" y="39728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操作系统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667250" y="428625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889659" y="44015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计算机网络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619500" y="4857750"/>
            <a:ext cx="7239000" cy="619125"/>
          </a:xfrm>
          <a:prstGeom prst="roundRect">
            <a:avLst>
              <a:gd name="adj" fmla="val 18462"/>
            </a:avLst>
          </a:prstGeom>
          <a:solidFill>
            <a:srgbClr val="0D47A1">
              <a:alpha val="5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358259" y="5013960"/>
            <a:ext cx="57614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AI专业背景扎实，课程覆盖AI核心领域，具备从理论到实践的完整知识体系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71262" y="5247799"/>
            <a:ext cx="11354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预计 2027 年毕业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015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03 / 13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0070" y="6570345"/>
            <a:ext cx="1094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张锦洋 · 个人简历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2609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实习经历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7212" y="659606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Internship</a:t>
            </a:r>
          </a:p>
        </p:txBody>
      </p:sp>
      <p:sp>
        <p:nvSpPr>
          <p:cNvPr id="7" name="Line 7"/>
          <p:cNvSpPr/>
          <p:nvPr/>
        </p:nvSpPr>
        <p:spPr>
          <a:xfrm>
            <a:off x="1143000" y="171450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047750" y="2381250"/>
            <a:ext cx="190500" cy="1905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971550" y="2305050"/>
            <a:ext cx="342900" cy="342900"/>
          </a:xfrm>
          <a:prstGeom prst="ellipse">
            <a:avLst/>
          </a:prstGeom>
          <a:solidFill>
            <a:srgbClr val="1565C0">
              <a:alpha val="12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1714500" y="1524000"/>
            <a:ext cx="9906000" cy="36195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1714500" y="1524000"/>
            <a:ext cx="9906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1714500" y="1581150"/>
            <a:ext cx="9906000" cy="7620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2028825" y="1895475"/>
            <a:ext cx="285750" cy="271462"/>
          </a:xfrm>
          <a:custGeom>
            <a:avLst/>
            <a:gdLst/>
            <a:ahLst/>
            <a:cxnLst/>
            <a:rect l="l" t="t" r="r" b="b"/>
            <a:pathLst>
              <a:path w="285750" h="271462">
                <a:moveTo>
                  <a:pt x="285750" y="163992"/>
                </a:moveTo>
                <a:lnTo>
                  <a:pt x="285750" y="228600"/>
                </a:lnTo>
                <a:cubicBezTo>
                  <a:pt x="285750" y="252272"/>
                  <a:pt x="266560" y="271462"/>
                  <a:pt x="242888" y="271462"/>
                </a:cubicBezTo>
                <a:lnTo>
                  <a:pt x="42862" y="271462"/>
                </a:lnTo>
                <a:cubicBezTo>
                  <a:pt x="19190" y="271462"/>
                  <a:pt x="0" y="252272"/>
                  <a:pt x="0" y="228600"/>
                </a:cubicBezTo>
                <a:lnTo>
                  <a:pt x="0" y="163992"/>
                </a:lnTo>
                <a:lnTo>
                  <a:pt x="7901" y="167950"/>
                </a:lnTo>
                <a:cubicBezTo>
                  <a:pt x="92818" y="210722"/>
                  <a:pt x="192984" y="210712"/>
                  <a:pt x="277892" y="167921"/>
                </a:cubicBezTo>
                <a:lnTo>
                  <a:pt x="285750" y="163992"/>
                </a:lnTo>
                <a:close/>
                <a:moveTo>
                  <a:pt x="171450" y="0"/>
                </a:moveTo>
                <a:cubicBezTo>
                  <a:pt x="195122" y="0"/>
                  <a:pt x="214312" y="19190"/>
                  <a:pt x="214312" y="42862"/>
                </a:cubicBezTo>
                <a:lnTo>
                  <a:pt x="214312" y="57150"/>
                </a:lnTo>
                <a:lnTo>
                  <a:pt x="242888" y="57150"/>
                </a:lnTo>
                <a:cubicBezTo>
                  <a:pt x="266560" y="57150"/>
                  <a:pt x="285750" y="76340"/>
                  <a:pt x="285750" y="100012"/>
                </a:cubicBezTo>
                <a:lnTo>
                  <a:pt x="285750" y="132045"/>
                </a:lnTo>
                <a:lnTo>
                  <a:pt x="265076" y="142389"/>
                </a:lnTo>
                <a:cubicBezTo>
                  <a:pt x="190113" y="180173"/>
                  <a:pt x="101888" y="181154"/>
                  <a:pt x="26103" y="145047"/>
                </a:cubicBezTo>
                <a:lnTo>
                  <a:pt x="16859" y="140475"/>
                </a:lnTo>
                <a:lnTo>
                  <a:pt x="0" y="132045"/>
                </a:lnTo>
                <a:lnTo>
                  <a:pt x="0" y="100012"/>
                </a:lnTo>
                <a:cubicBezTo>
                  <a:pt x="0" y="76340"/>
                  <a:pt x="19190" y="57150"/>
                  <a:pt x="42862" y="57150"/>
                </a:cubicBezTo>
                <a:lnTo>
                  <a:pt x="71438" y="57150"/>
                </a:lnTo>
                <a:lnTo>
                  <a:pt x="71438" y="42862"/>
                </a:lnTo>
                <a:cubicBezTo>
                  <a:pt x="71438" y="19190"/>
                  <a:pt x="90628" y="0"/>
                  <a:pt x="114300" y="0"/>
                </a:cubicBezTo>
                <a:lnTo>
                  <a:pt x="171450" y="0"/>
                </a:lnTo>
                <a:close/>
                <a:moveTo>
                  <a:pt x="142875" y="114300"/>
                </a:moveTo>
                <a:cubicBezTo>
                  <a:pt x="134984" y="114300"/>
                  <a:pt x="128588" y="120697"/>
                  <a:pt x="128588" y="128588"/>
                </a:cubicBezTo>
                <a:cubicBezTo>
                  <a:pt x="128562" y="133692"/>
                  <a:pt x="131262" y="138422"/>
                  <a:pt x="135669" y="140997"/>
                </a:cubicBezTo>
                <a:cubicBezTo>
                  <a:pt x="140077" y="143571"/>
                  <a:pt x="145524" y="143598"/>
                  <a:pt x="149957" y="141068"/>
                </a:cubicBezTo>
                <a:cubicBezTo>
                  <a:pt x="154390" y="138538"/>
                  <a:pt x="157137" y="133835"/>
                  <a:pt x="157162" y="128730"/>
                </a:cubicBezTo>
                <a:cubicBezTo>
                  <a:pt x="157162" y="120701"/>
                  <a:pt x="150762" y="114300"/>
                  <a:pt x="142875" y="114300"/>
                </a:cubicBezTo>
                <a:close/>
                <a:moveTo>
                  <a:pt x="171450" y="28575"/>
                </a:moveTo>
                <a:lnTo>
                  <a:pt x="114300" y="28575"/>
                </a:lnTo>
                <a:cubicBezTo>
                  <a:pt x="106409" y="28575"/>
                  <a:pt x="100012" y="34972"/>
                  <a:pt x="100012" y="42862"/>
                </a:cubicBezTo>
                <a:lnTo>
                  <a:pt x="100012" y="57150"/>
                </a:lnTo>
                <a:lnTo>
                  <a:pt x="185738" y="57150"/>
                </a:lnTo>
                <a:lnTo>
                  <a:pt x="185738" y="42862"/>
                </a:lnTo>
                <a:cubicBezTo>
                  <a:pt x="185738" y="34972"/>
                  <a:pt x="179341" y="28575"/>
                  <a:pt x="171450" y="28575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497455" y="17926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字节跳动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06980" y="212121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数据标注师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144000" y="1714500"/>
            <a:ext cx="1905000" cy="34290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420880" y="1831181"/>
            <a:ext cx="13512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2025.9 ~ 2025.10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81200" y="2600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工作职责</a:t>
            </a:r>
          </a:p>
        </p:txBody>
      </p:sp>
      <p:sp>
        <p:nvSpPr>
          <p:cNvPr id="19" name="Ellipse 19"/>
          <p:cNvSpPr/>
          <p:nvPr/>
        </p:nvSpPr>
        <p:spPr>
          <a:xfrm>
            <a:off x="2000250" y="3095625"/>
            <a:ext cx="95250" cy="95250"/>
          </a:xfrm>
          <a:prstGeom prst="ellipse">
            <a:avLst/>
          </a:prstGeom>
          <a:solidFill>
            <a:srgbClr val="1565C0">
              <a:alpha val="6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2222182" y="3081814"/>
            <a:ext cx="59260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参与字节跳动人工智能大模型（豆包）的监督微调（SFT）数据标注工作</a:t>
            </a:r>
          </a:p>
        </p:txBody>
      </p:sp>
      <p:sp>
        <p:nvSpPr>
          <p:cNvPr id="21" name="Ellipse 21"/>
          <p:cNvSpPr/>
          <p:nvPr/>
        </p:nvSpPr>
        <p:spPr>
          <a:xfrm>
            <a:off x="2000250" y="3571875"/>
            <a:ext cx="95250" cy="95250"/>
          </a:xfrm>
          <a:prstGeom prst="ellipse">
            <a:avLst/>
          </a:prstGeom>
          <a:solidFill>
            <a:srgbClr val="1565C0">
              <a:alpha val="6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222182" y="3558064"/>
            <a:ext cx="43153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负责标注处理前端交互相关数据，严格遵循标注规范</a:t>
            </a:r>
          </a:p>
        </p:txBody>
      </p:sp>
      <p:sp>
        <p:nvSpPr>
          <p:cNvPr id="23" name="Ellipse 23"/>
          <p:cNvSpPr/>
          <p:nvPr/>
        </p:nvSpPr>
        <p:spPr>
          <a:xfrm>
            <a:off x="2000250" y="4048125"/>
            <a:ext cx="95250" cy="95250"/>
          </a:xfrm>
          <a:prstGeom prst="ellipse">
            <a:avLst/>
          </a:prstGeom>
          <a:solidFill>
            <a:srgbClr val="1565C0">
              <a:alpha val="60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222182" y="4034314"/>
            <a:ext cx="46877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保证样本的准确性与一致性，确保模型训练数据的高质量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000250" y="45720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197441" y="4687252"/>
            <a:ext cx="9391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SFT 数据标注</a:t>
            </a:r>
          </a:p>
        </p:txBody>
      </p:sp>
      <p:sp>
        <p:nvSpPr>
          <p:cNvPr id="27" name="Rectangle 27"/>
          <p:cNvSpPr/>
          <p:nvPr/>
        </p:nvSpPr>
        <p:spPr>
          <a:xfrm>
            <a:off x="3476625" y="45720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746659" y="46872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大模型训练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953000" y="45720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146358" y="46872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前端交互数据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29375" y="45720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76085" y="46872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质量控制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015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04 / 13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0070" y="6570345"/>
            <a:ext cx="1094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张锦洋 · 个人简历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2609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项目经历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7212" y="6596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Projects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50875" y="1270000"/>
            <a:ext cx="222250" cy="301625"/>
            <a:chOff x="650875" y="1270000"/>
            <a:chExt cx="222250" cy="301625"/>
          </a:xfrm>
        </p:grpSpPr>
        <p:sp>
          <p:nvSpPr>
            <p:cNvPr id="7" name="Freeform 7"/>
            <p:cNvSpPr/>
            <p:nvPr/>
          </p:nvSpPr>
          <p:spPr>
            <a:xfrm>
              <a:off x="666750" y="130175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31750"/>
                  </a:moveTo>
                  <a:cubicBezTo>
                    <a:pt x="0" y="14215"/>
                    <a:pt x="14215" y="0"/>
                    <a:pt x="31750" y="0"/>
                  </a:cubicBezTo>
                  <a:lnTo>
                    <a:pt x="158750" y="0"/>
                  </a:lnTo>
                  <a:cubicBezTo>
                    <a:pt x="176285" y="0"/>
                    <a:pt x="190500" y="14215"/>
                    <a:pt x="190500" y="31750"/>
                  </a:cubicBezTo>
                  <a:lnTo>
                    <a:pt x="190500" y="95250"/>
                  </a:lnTo>
                  <a:cubicBezTo>
                    <a:pt x="190500" y="112785"/>
                    <a:pt x="176285" y="127000"/>
                    <a:pt x="158750" y="127000"/>
                  </a:cubicBezTo>
                  <a:lnTo>
                    <a:pt x="31750" y="127000"/>
                  </a:lnTo>
                  <a:cubicBezTo>
                    <a:pt x="14215" y="127000"/>
                    <a:pt x="0" y="112785"/>
                    <a:pt x="0" y="95250"/>
                  </a:cubicBezTo>
                  <a:lnTo>
                    <a:pt x="0" y="3175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62000" y="1270000"/>
              <a:ext cx="9525" cy="31750"/>
            </a:xfrm>
            <a:custGeom>
              <a:avLst/>
              <a:gdLst/>
              <a:ahLst/>
              <a:cxnLst/>
              <a:rect l="l" t="t" r="r" b="b"/>
              <a:pathLst>
                <a:path w="9525" h="31750">
                  <a:moveTo>
                    <a:pt x="0" y="0"/>
                  </a:moveTo>
                  <a:lnTo>
                    <a:pt x="0" y="3175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14375" y="1428750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09625" y="1428750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50875" y="1460500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63500" h="31750">
                  <a:moveTo>
                    <a:pt x="0" y="31750"/>
                  </a:moveTo>
                  <a:lnTo>
                    <a:pt x="6350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09625" y="1460500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63500" h="31750">
                  <a:moveTo>
                    <a:pt x="0" y="0"/>
                  </a:moveTo>
                  <a:lnTo>
                    <a:pt x="63500" y="3175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14375" y="1524000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30250" y="13652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93750" y="13652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068705" y="1202055"/>
            <a:ext cx="52059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中国机器人及人工智能大赛备赛开发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8230" y="1549718"/>
            <a:ext cx="27749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技术负责人 · 2025.3 ~ 2025.8</a:t>
            </a:r>
          </a:p>
        </p:txBody>
      </p:sp>
      <p:sp>
        <p:nvSpPr>
          <p:cNvPr id="19" name="Rectangle 19"/>
          <p:cNvSpPr/>
          <p:nvPr/>
        </p:nvSpPr>
        <p:spPr>
          <a:xfrm>
            <a:off x="9144000" y="1190625"/>
            <a:ext cx="2476500" cy="5715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0D47A1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9356736" y="1385888"/>
            <a:ext cx="224381" cy="211137"/>
          </a:xfrm>
          <a:custGeom>
            <a:avLst/>
            <a:gdLst/>
            <a:ahLst/>
            <a:cxnLst/>
            <a:rect l="l" t="t" r="r" b="b"/>
            <a:pathLst>
              <a:path w="224381" h="211137">
                <a:moveTo>
                  <a:pt x="166676" y="0"/>
                </a:moveTo>
                <a:cubicBezTo>
                  <a:pt x="172310" y="1"/>
                  <a:pt x="177052" y="4217"/>
                  <a:pt x="177711" y="9812"/>
                </a:cubicBezTo>
                <a:lnTo>
                  <a:pt x="177789" y="11112"/>
                </a:lnTo>
                <a:lnTo>
                  <a:pt x="177789" y="35227"/>
                </a:lnTo>
                <a:cubicBezTo>
                  <a:pt x="191601" y="30360"/>
                  <a:pt x="206972" y="35077"/>
                  <a:pt x="215677" y="46854"/>
                </a:cubicBezTo>
                <a:cubicBezTo>
                  <a:pt x="224381" y="58630"/>
                  <a:pt x="224381" y="74709"/>
                  <a:pt x="215677" y="86485"/>
                </a:cubicBezTo>
                <a:cubicBezTo>
                  <a:pt x="206972" y="98262"/>
                  <a:pt x="191601" y="102979"/>
                  <a:pt x="177789" y="98112"/>
                </a:cubicBezTo>
                <a:lnTo>
                  <a:pt x="177789" y="100012"/>
                </a:lnTo>
                <a:cubicBezTo>
                  <a:pt x="177785" y="132548"/>
                  <a:pt x="154306" y="160333"/>
                  <a:pt x="122226" y="165765"/>
                </a:cubicBezTo>
                <a:lnTo>
                  <a:pt x="122226" y="188913"/>
                </a:lnTo>
                <a:lnTo>
                  <a:pt x="155564" y="188913"/>
                </a:lnTo>
                <a:cubicBezTo>
                  <a:pt x="161443" y="188919"/>
                  <a:pt x="166300" y="193504"/>
                  <a:pt x="166645" y="199374"/>
                </a:cubicBezTo>
                <a:cubicBezTo>
                  <a:pt x="166990" y="205243"/>
                  <a:pt x="162702" y="210365"/>
                  <a:pt x="156864" y="211060"/>
                </a:cubicBezTo>
                <a:lnTo>
                  <a:pt x="155564" y="211137"/>
                </a:lnTo>
                <a:lnTo>
                  <a:pt x="66664" y="211137"/>
                </a:lnTo>
                <a:cubicBezTo>
                  <a:pt x="60784" y="211131"/>
                  <a:pt x="55927" y="206546"/>
                  <a:pt x="55583" y="200676"/>
                </a:cubicBezTo>
                <a:cubicBezTo>
                  <a:pt x="55238" y="194807"/>
                  <a:pt x="59525" y="189685"/>
                  <a:pt x="65364" y="188990"/>
                </a:cubicBezTo>
                <a:lnTo>
                  <a:pt x="66664" y="188913"/>
                </a:lnTo>
                <a:lnTo>
                  <a:pt x="100001" y="188913"/>
                </a:lnTo>
                <a:lnTo>
                  <a:pt x="100001" y="165765"/>
                </a:lnTo>
                <a:cubicBezTo>
                  <a:pt x="68850" y="160492"/>
                  <a:pt x="45672" y="134085"/>
                  <a:pt x="44483" y="102513"/>
                </a:cubicBezTo>
                <a:lnTo>
                  <a:pt x="44439" y="100012"/>
                </a:lnTo>
                <a:lnTo>
                  <a:pt x="44439" y="98112"/>
                </a:lnTo>
                <a:cubicBezTo>
                  <a:pt x="34558" y="101610"/>
                  <a:pt x="23607" y="100257"/>
                  <a:pt x="14875" y="94459"/>
                </a:cubicBezTo>
                <a:cubicBezTo>
                  <a:pt x="6142" y="88662"/>
                  <a:pt x="645" y="79095"/>
                  <a:pt x="33" y="68631"/>
                </a:cubicBezTo>
                <a:lnTo>
                  <a:pt x="0" y="66675"/>
                </a:lnTo>
                <a:lnTo>
                  <a:pt x="56" y="64719"/>
                </a:lnTo>
                <a:cubicBezTo>
                  <a:pt x="665" y="54256"/>
                  <a:pt x="6159" y="44688"/>
                  <a:pt x="14889" y="38889"/>
                </a:cubicBezTo>
                <a:cubicBezTo>
                  <a:pt x="23619" y="33089"/>
                  <a:pt x="34569" y="31733"/>
                  <a:pt x="44450" y="35227"/>
                </a:cubicBezTo>
                <a:lnTo>
                  <a:pt x="44439" y="11112"/>
                </a:lnTo>
                <a:cubicBezTo>
                  <a:pt x="44439" y="4975"/>
                  <a:pt x="49414" y="0"/>
                  <a:pt x="55551" y="0"/>
                </a:cubicBezTo>
                <a:lnTo>
                  <a:pt x="166676" y="0"/>
                </a:lnTo>
                <a:close/>
                <a:moveTo>
                  <a:pt x="33326" y="55563"/>
                </a:moveTo>
                <a:cubicBezTo>
                  <a:pt x="27189" y="55563"/>
                  <a:pt x="22214" y="60538"/>
                  <a:pt x="22214" y="66675"/>
                </a:cubicBezTo>
                <a:cubicBezTo>
                  <a:pt x="22214" y="72812"/>
                  <a:pt x="27189" y="77787"/>
                  <a:pt x="33326" y="77787"/>
                </a:cubicBezTo>
                <a:cubicBezTo>
                  <a:pt x="39464" y="77787"/>
                  <a:pt x="44439" y="72812"/>
                  <a:pt x="44439" y="66675"/>
                </a:cubicBezTo>
                <a:cubicBezTo>
                  <a:pt x="44439" y="60538"/>
                  <a:pt x="39464" y="55563"/>
                  <a:pt x="33326" y="55563"/>
                </a:cubicBezTo>
                <a:moveTo>
                  <a:pt x="188901" y="55563"/>
                </a:moveTo>
                <a:cubicBezTo>
                  <a:pt x="182764" y="55563"/>
                  <a:pt x="177789" y="60538"/>
                  <a:pt x="177789" y="66675"/>
                </a:cubicBezTo>
                <a:cubicBezTo>
                  <a:pt x="177789" y="72812"/>
                  <a:pt x="182764" y="77787"/>
                  <a:pt x="188901" y="77787"/>
                </a:cubicBezTo>
                <a:cubicBezTo>
                  <a:pt x="195039" y="77787"/>
                  <a:pt x="200014" y="72812"/>
                  <a:pt x="200014" y="66675"/>
                </a:cubicBezTo>
                <a:cubicBezTo>
                  <a:pt x="200014" y="60538"/>
                  <a:pt x="195039" y="55563"/>
                  <a:pt x="188901" y="55563"/>
                </a:cubicBez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699308" y="1338739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国家级二等奖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04070" y="156972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国家级竞赛成果</a:t>
            </a:r>
          </a:p>
        </p:txBody>
      </p:sp>
      <p:sp>
        <p:nvSpPr>
          <p:cNvPr id="23" name="Line 23"/>
          <p:cNvSpPr/>
          <p:nvPr/>
        </p:nvSpPr>
        <p:spPr>
          <a:xfrm>
            <a:off x="571500" y="1905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71500" y="2095500"/>
            <a:ext cx="5143500" cy="2762250"/>
          </a:xfrm>
          <a:prstGeom prst="roundRect">
            <a:avLst>
              <a:gd name="adj" fmla="val 4138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40105" y="22831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项目描述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010" y="2585085"/>
            <a:ext cx="9669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围绕开鸿机器人进行动作与代码逻辑设计开发，完成机器人多模式运行的功能搭建，保障比赛中各类场景下的任务执行能力。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0105" y="3092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个人职责</a:t>
            </a:r>
          </a:p>
        </p:txBody>
      </p:sp>
      <p:sp>
        <p:nvSpPr>
          <p:cNvPr id="28" name="Ellipse 28"/>
          <p:cNvSpPr/>
          <p:nvPr/>
        </p:nvSpPr>
        <p:spPr>
          <a:xfrm>
            <a:off x="866775" y="3486150"/>
            <a:ext cx="76200" cy="76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33462" y="3459956"/>
            <a:ext cx="81124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负责开鸿机器人各项动作设计，除基础动作外，设计"倒地起身""奔跑"等舵机联动复杂动作，应对比赛突发情况</a:t>
            </a:r>
          </a:p>
        </p:txBody>
      </p:sp>
      <p:sp>
        <p:nvSpPr>
          <p:cNvPr id="30" name="Ellipse 30"/>
          <p:cNvSpPr/>
          <p:nvPr/>
        </p:nvSpPr>
        <p:spPr>
          <a:xfrm>
            <a:off x="866775" y="4010025"/>
            <a:ext cx="76200" cy="76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33462" y="3983831"/>
            <a:ext cx="77838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主导机器人整体代码逻辑设计，完成"自动模式"下动作行为编排，以及遥控模式下"按键"与代码的逻辑映射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96000" y="2095500"/>
            <a:ext cx="5524500" cy="2762250"/>
          </a:xfrm>
          <a:prstGeom prst="roundRect">
            <a:avLst>
              <a:gd name="adj" fmla="val 4138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364605" y="22831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技术栈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381750" y="261937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612731" y="27441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机器人动作设计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96250" y="261937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557260" y="2744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舵机控制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810750" y="261937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0118408" y="27441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代码逻辑开发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381750" y="309562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6689408" y="3220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遥控系统适配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096250" y="309562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8403908" y="3220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自动模式编排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810750" y="309562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195084" y="32204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开鸿机器人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364605" y="3664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项目成果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66510" y="4013835"/>
            <a:ext cx="45872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带领团队完成机器人开发与调试，最终斩获国家级二等奖。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5143500"/>
            <a:ext cx="11049000" cy="47625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762000" y="52578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98640" y="5333524"/>
            <a:ext cx="696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51" name="Ellipse 51"/>
          <p:cNvSpPr/>
          <p:nvPr/>
        </p:nvSpPr>
        <p:spPr>
          <a:xfrm>
            <a:off x="2028825" y="5314950"/>
            <a:ext cx="133350" cy="1333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2051887" y="5340191"/>
            <a:ext cx="872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53" name="Ellipse 53"/>
          <p:cNvSpPr/>
          <p:nvPr/>
        </p:nvSpPr>
        <p:spPr>
          <a:xfrm>
            <a:off x="2981325" y="5314950"/>
            <a:ext cx="133350" cy="1333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3004387" y="5340191"/>
            <a:ext cx="872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55" name="Ellipse 55"/>
          <p:cNvSpPr/>
          <p:nvPr/>
        </p:nvSpPr>
        <p:spPr>
          <a:xfrm>
            <a:off x="3933825" y="5314950"/>
            <a:ext cx="133350" cy="1333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3956887" y="5340191"/>
            <a:ext cx="872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2015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05 / 13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0070" y="6570345"/>
            <a:ext cx="1094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张锦洋 · 个人简历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914400"/>
              <a:ext cx="12192000" cy="3810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7210" y="260985"/>
              <a:ext cx="172478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项目经历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7212" y="659606"/>
              <a:ext cx="7104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Projects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0875" y="1202055"/>
            <a:ext cx="4979734" cy="621983"/>
            <a:chOff x="650875" y="1202055"/>
            <a:chExt cx="4979734" cy="621983"/>
          </a:xfrm>
        </p:grpSpPr>
        <p:grpSp>
          <p:nvGrpSpPr>
            <p:cNvPr id="17" name="Group 17"/>
            <p:cNvGrpSpPr/>
            <p:nvPr/>
          </p:nvGrpSpPr>
          <p:grpSpPr>
            <a:xfrm>
              <a:off x="650875" y="1270000"/>
              <a:ext cx="222250" cy="301625"/>
              <a:chOff x="650875" y="1270000"/>
              <a:chExt cx="222250" cy="3016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66750" y="1301750"/>
                <a:ext cx="190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270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95250"/>
                    </a:lnTo>
                    <a:cubicBezTo>
                      <a:pt x="190500" y="112785"/>
                      <a:pt x="176285" y="127000"/>
                      <a:pt x="15875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62000" y="12700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14375" y="14287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9625" y="14287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50875" y="14605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3175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9625" y="14605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0"/>
                    </a:moveTo>
                    <a:lnTo>
                      <a:pt x="6350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14375" y="15240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30250" y="1365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93750" y="1365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68705" y="1202055"/>
              <a:ext cx="456190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睿抗机器人开发者大赛备赛开发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78230" y="1549718"/>
              <a:ext cx="27749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技术负责人 · 2025.3 ~ 2025.8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0" y="1190625"/>
            <a:ext cx="2476500" cy="571500"/>
            <a:chOff x="9144000" y="1190625"/>
            <a:chExt cx="2476500" cy="571500"/>
          </a:xfrm>
        </p:grpSpPr>
        <p:sp>
          <p:nvSpPr>
            <p:cNvPr id="21" name="Freeform 21"/>
            <p:cNvSpPr/>
            <p:nvPr/>
          </p:nvSpPr>
          <p:spPr>
            <a:xfrm>
              <a:off x="9144000" y="1190625"/>
              <a:ext cx="2476500" cy="571500"/>
            </a:xfrm>
            <a:custGeom>
              <a:avLst/>
              <a:gdLst/>
              <a:ahLst/>
              <a:cxnLst/>
              <a:rect l="l" t="t" r="r" b="b"/>
              <a:pathLst>
                <a:path w="2476500" h="571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457200"/>
                  </a:lnTo>
                  <a:cubicBezTo>
                    <a:pt x="2476500" y="520326"/>
                    <a:pt x="2425326" y="571500"/>
                    <a:pt x="2362200" y="571500"/>
                  </a:cubicBezTo>
                  <a:lnTo>
                    <a:pt x="114300" y="571500"/>
                  </a:lnTo>
                  <a:cubicBezTo>
                    <a:pt x="51174" y="571500"/>
                    <a:pt x="0" y="520326"/>
                    <a:pt x="0" y="45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0D47A1"/>
                </a:gs>
                <a:gs pos="100000">
                  <a:srgbClr val="1565C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9356736" y="1385888"/>
              <a:ext cx="224381" cy="211137"/>
            </a:xfrm>
            <a:custGeom>
              <a:avLst/>
              <a:gdLst/>
              <a:ahLst/>
              <a:cxnLst/>
              <a:rect l="l" t="t" r="r" b="b"/>
              <a:pathLst>
                <a:path w="224381" h="211137">
                  <a:moveTo>
                    <a:pt x="166676" y="0"/>
                  </a:moveTo>
                  <a:cubicBezTo>
                    <a:pt x="172310" y="1"/>
                    <a:pt x="177052" y="4217"/>
                    <a:pt x="177711" y="9812"/>
                  </a:cubicBezTo>
                  <a:lnTo>
                    <a:pt x="177789" y="11112"/>
                  </a:lnTo>
                  <a:lnTo>
                    <a:pt x="177789" y="35227"/>
                  </a:lnTo>
                  <a:cubicBezTo>
                    <a:pt x="191601" y="30360"/>
                    <a:pt x="206972" y="35077"/>
                    <a:pt x="215677" y="46854"/>
                  </a:cubicBezTo>
                  <a:cubicBezTo>
                    <a:pt x="224381" y="58630"/>
                    <a:pt x="224381" y="74709"/>
                    <a:pt x="215677" y="86485"/>
                  </a:cubicBezTo>
                  <a:cubicBezTo>
                    <a:pt x="206972" y="98262"/>
                    <a:pt x="191601" y="102979"/>
                    <a:pt x="177789" y="98112"/>
                  </a:cubicBezTo>
                  <a:lnTo>
                    <a:pt x="177789" y="100012"/>
                  </a:lnTo>
                  <a:cubicBezTo>
                    <a:pt x="177785" y="132548"/>
                    <a:pt x="154306" y="160333"/>
                    <a:pt x="122226" y="165765"/>
                  </a:cubicBezTo>
                  <a:lnTo>
                    <a:pt x="122226" y="188913"/>
                  </a:lnTo>
                  <a:lnTo>
                    <a:pt x="155564" y="188913"/>
                  </a:lnTo>
                  <a:cubicBezTo>
                    <a:pt x="161443" y="188919"/>
                    <a:pt x="166300" y="193504"/>
                    <a:pt x="166645" y="199374"/>
                  </a:cubicBezTo>
                  <a:cubicBezTo>
                    <a:pt x="166990" y="205243"/>
                    <a:pt x="162702" y="210365"/>
                    <a:pt x="156864" y="211060"/>
                  </a:cubicBezTo>
                  <a:lnTo>
                    <a:pt x="155564" y="211137"/>
                  </a:lnTo>
                  <a:lnTo>
                    <a:pt x="66664" y="211137"/>
                  </a:lnTo>
                  <a:cubicBezTo>
                    <a:pt x="60784" y="211131"/>
                    <a:pt x="55927" y="206546"/>
                    <a:pt x="55583" y="200676"/>
                  </a:cubicBezTo>
                  <a:cubicBezTo>
                    <a:pt x="55238" y="194807"/>
                    <a:pt x="59525" y="189685"/>
                    <a:pt x="65364" y="188990"/>
                  </a:cubicBezTo>
                  <a:lnTo>
                    <a:pt x="66664" y="188913"/>
                  </a:lnTo>
                  <a:lnTo>
                    <a:pt x="100001" y="188913"/>
                  </a:lnTo>
                  <a:lnTo>
                    <a:pt x="100001" y="165765"/>
                  </a:lnTo>
                  <a:cubicBezTo>
                    <a:pt x="68850" y="160492"/>
                    <a:pt x="45672" y="134085"/>
                    <a:pt x="44483" y="102513"/>
                  </a:cubicBezTo>
                  <a:lnTo>
                    <a:pt x="44439" y="100012"/>
                  </a:lnTo>
                  <a:lnTo>
                    <a:pt x="44439" y="98112"/>
                  </a:lnTo>
                  <a:cubicBezTo>
                    <a:pt x="34558" y="101610"/>
                    <a:pt x="23607" y="100257"/>
                    <a:pt x="14875" y="94459"/>
                  </a:cubicBezTo>
                  <a:cubicBezTo>
                    <a:pt x="6142" y="88662"/>
                    <a:pt x="645" y="79095"/>
                    <a:pt x="33" y="68631"/>
                  </a:cubicBezTo>
                  <a:lnTo>
                    <a:pt x="0" y="66675"/>
                  </a:lnTo>
                  <a:lnTo>
                    <a:pt x="56" y="64719"/>
                  </a:lnTo>
                  <a:cubicBezTo>
                    <a:pt x="665" y="54256"/>
                    <a:pt x="6159" y="44688"/>
                    <a:pt x="14889" y="38889"/>
                  </a:cubicBezTo>
                  <a:cubicBezTo>
                    <a:pt x="23619" y="33089"/>
                    <a:pt x="34569" y="31733"/>
                    <a:pt x="44450" y="35227"/>
                  </a:cubicBezTo>
                  <a:lnTo>
                    <a:pt x="44439" y="11112"/>
                  </a:lnTo>
                  <a:cubicBezTo>
                    <a:pt x="44439" y="4975"/>
                    <a:pt x="49414" y="0"/>
                    <a:pt x="55551" y="0"/>
                  </a:cubicBezTo>
                  <a:lnTo>
                    <a:pt x="166676" y="0"/>
                  </a:lnTo>
                  <a:close/>
                  <a:moveTo>
                    <a:pt x="33326" y="55563"/>
                  </a:moveTo>
                  <a:cubicBezTo>
                    <a:pt x="27189" y="55563"/>
                    <a:pt x="22214" y="60538"/>
                    <a:pt x="22214" y="66675"/>
                  </a:cubicBezTo>
                  <a:cubicBezTo>
                    <a:pt x="22214" y="72812"/>
                    <a:pt x="27189" y="77787"/>
                    <a:pt x="33326" y="77787"/>
                  </a:cubicBezTo>
                  <a:cubicBezTo>
                    <a:pt x="39464" y="77787"/>
                    <a:pt x="44439" y="72812"/>
                    <a:pt x="44439" y="66675"/>
                  </a:cubicBezTo>
                  <a:cubicBezTo>
                    <a:pt x="44439" y="60538"/>
                    <a:pt x="39464" y="55563"/>
                    <a:pt x="33326" y="55563"/>
                  </a:cubicBezTo>
                  <a:moveTo>
                    <a:pt x="188901" y="55563"/>
                  </a:moveTo>
                  <a:cubicBezTo>
                    <a:pt x="182764" y="55563"/>
                    <a:pt x="177789" y="60538"/>
                    <a:pt x="177789" y="66675"/>
                  </a:cubicBezTo>
                  <a:cubicBezTo>
                    <a:pt x="177789" y="72812"/>
                    <a:pt x="182764" y="77787"/>
                    <a:pt x="188901" y="77787"/>
                  </a:cubicBezTo>
                  <a:cubicBezTo>
                    <a:pt x="195039" y="77787"/>
                    <a:pt x="200014" y="72812"/>
                    <a:pt x="200014" y="66675"/>
                  </a:cubicBezTo>
                  <a:cubicBezTo>
                    <a:pt x="200014" y="60538"/>
                    <a:pt x="195039" y="55563"/>
                    <a:pt x="188901" y="555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99308" y="1338739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省级一等奖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04070" y="156972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省级竞赛成果</a:t>
              </a:r>
            </a:p>
          </p:txBody>
        </p:sp>
      </p:grpSp>
      <p:sp>
        <p:nvSpPr>
          <p:cNvPr id="26" name="Line 26"/>
          <p:cNvSpPr/>
          <p:nvPr/>
        </p:nvSpPr>
        <p:spPr>
          <a:xfrm>
            <a:off x="571500" y="1905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571500" y="2095500"/>
            <a:ext cx="8888730" cy="2762250"/>
            <a:chOff x="571500" y="2095500"/>
            <a:chExt cx="8888730" cy="2762250"/>
          </a:xfrm>
        </p:grpSpPr>
        <p:sp>
          <p:nvSpPr>
            <p:cNvPr id="27" name="Freeform 27"/>
            <p:cNvSpPr/>
            <p:nvPr/>
          </p:nvSpPr>
          <p:spPr>
            <a:xfrm>
              <a:off x="571500" y="2095500"/>
              <a:ext cx="5143500" cy="2762250"/>
            </a:xfrm>
            <a:custGeom>
              <a:avLst/>
              <a:gdLst/>
              <a:ahLst/>
              <a:cxnLst/>
              <a:rect l="l" t="t" r="r" b="b"/>
              <a:pathLst>
                <a:path w="5143500" h="2762250">
                  <a:moveTo>
                    <a:pt x="114300" y="0"/>
                  </a:moveTo>
                  <a:lnTo>
                    <a:pt x="5029200" y="0"/>
                  </a:lnTo>
                  <a:cubicBezTo>
                    <a:pt x="5092326" y="0"/>
                    <a:pt x="5143500" y="51174"/>
                    <a:pt x="5143500" y="114300"/>
                  </a:cubicBezTo>
                  <a:lnTo>
                    <a:pt x="5143500" y="2647950"/>
                  </a:lnTo>
                  <a:cubicBezTo>
                    <a:pt x="5143500" y="2711076"/>
                    <a:pt x="5092326" y="2762250"/>
                    <a:pt x="5029200" y="2762250"/>
                  </a:cubicBezTo>
                  <a:lnTo>
                    <a:pt x="114300" y="2762250"/>
                  </a:lnTo>
                  <a:cubicBezTo>
                    <a:pt x="51174" y="2762250"/>
                    <a:pt x="0" y="2711076"/>
                    <a:pt x="0" y="2647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4F6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0105" y="2283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项目描述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2010" y="2585085"/>
              <a:ext cx="86182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针对百度智能车进行视觉识别与运行逻辑优化，实现复杂场景下的道路精准识别，提升智能车的环境适应能力。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0105" y="30927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个人职责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66775" y="348615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33462" y="3459956"/>
              <a:ext cx="51960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负责百度智能车视觉识别模型训练，选用 PPLCNet 模型并调整训练参数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66775" y="4010025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33462" y="3983831"/>
              <a:ext cx="44648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优化训练集与测试集，完成智能车运行逻辑代码的设计与调试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0" y="2095500"/>
            <a:ext cx="5909310" cy="2762250"/>
            <a:chOff x="6096000" y="2095500"/>
            <a:chExt cx="5909310" cy="2762250"/>
          </a:xfrm>
        </p:grpSpPr>
        <p:sp>
          <p:nvSpPr>
            <p:cNvPr id="36" name="Freeform 36"/>
            <p:cNvSpPr/>
            <p:nvPr/>
          </p:nvSpPr>
          <p:spPr>
            <a:xfrm>
              <a:off x="6096000" y="2095500"/>
              <a:ext cx="5524500" cy="2762250"/>
            </a:xfrm>
            <a:custGeom>
              <a:avLst/>
              <a:gdLst/>
              <a:ahLst/>
              <a:cxnLst/>
              <a:rect l="l" t="t" r="r" b="b"/>
              <a:pathLst>
                <a:path w="5524500" h="276225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2647950"/>
                  </a:lnTo>
                  <a:cubicBezTo>
                    <a:pt x="5524500" y="2711076"/>
                    <a:pt x="5473326" y="2762250"/>
                    <a:pt x="5410200" y="2762250"/>
                  </a:cubicBezTo>
                  <a:lnTo>
                    <a:pt x="114300" y="2762250"/>
                  </a:lnTo>
                  <a:cubicBezTo>
                    <a:pt x="51174" y="2762250"/>
                    <a:pt x="0" y="2711076"/>
                    <a:pt x="0" y="2647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4F6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64605" y="228314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技术栈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381750" y="261937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77906" y="274415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PPLCNet 模型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8096250" y="261937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557260" y="27441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视觉识别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810750" y="261937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271760" y="27441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模型调参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381750" y="309562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2731" y="32204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智能车运行逻辑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8096250" y="309562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57260" y="32204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代码调试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9810750" y="309562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195084" y="32204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百度智能车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64605" y="3664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项目成果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66510" y="4013835"/>
              <a:ext cx="5638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带领团队实现复杂光照、特殊路面下的道路精确识别，取得省级一等奖。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5143500"/>
            <a:ext cx="11049000" cy="476250"/>
            <a:chOff x="571500" y="5143500"/>
            <a:chExt cx="11049000" cy="476250"/>
          </a:xfrm>
        </p:grpSpPr>
        <p:sp>
          <p:nvSpPr>
            <p:cNvPr id="53" name="Freeform 53"/>
            <p:cNvSpPr/>
            <p:nvPr/>
          </p:nvSpPr>
          <p:spPr>
            <a:xfrm>
              <a:off x="571500" y="5143500"/>
              <a:ext cx="11049000" cy="476250"/>
            </a:xfrm>
            <a:custGeom>
              <a:avLst/>
              <a:gdLst/>
              <a:ahLst/>
              <a:cxnLst/>
              <a:rect l="l" t="t" r="r" b="b"/>
              <a:pathLst>
                <a:path w="11049000" h="47625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381000"/>
                  </a:lnTo>
                  <a:cubicBezTo>
                    <a:pt x="11049000" y="433605"/>
                    <a:pt x="11006355" y="476250"/>
                    <a:pt x="10953750" y="476250"/>
                  </a:cubicBezTo>
                  <a:lnTo>
                    <a:pt x="95250" y="476250"/>
                  </a:lnTo>
                  <a:cubicBezTo>
                    <a:pt x="42645" y="476250"/>
                    <a:pt x="0" y="433605"/>
                    <a:pt x="0" y="381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4F6F9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1343025" y="5314950"/>
              <a:ext cx="133350" cy="133350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381149" y="5340191"/>
              <a:ext cx="571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1971675" y="5257800"/>
              <a:ext cx="342900" cy="247650"/>
            </a:xfrm>
            <a:custGeom>
              <a:avLst/>
              <a:gdLst/>
              <a:ahLst/>
              <a:cxnLst/>
              <a:rect l="l" t="t" r="r" b="b"/>
              <a:pathLst>
                <a:path w="342900" h="247650">
                  <a:moveTo>
                    <a:pt x="123825" y="0"/>
                  </a:moveTo>
                  <a:lnTo>
                    <a:pt x="219075" y="0"/>
                  </a:lnTo>
                  <a:cubicBezTo>
                    <a:pt x="287462" y="0"/>
                    <a:pt x="342900" y="55438"/>
                    <a:pt x="342900" y="123825"/>
                  </a:cubicBezTo>
                  <a:lnTo>
                    <a:pt x="342900" y="123825"/>
                  </a:lnTo>
                  <a:cubicBezTo>
                    <a:pt x="342900" y="192212"/>
                    <a:pt x="287462" y="247650"/>
                    <a:pt x="2190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089625" y="53335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2981325" y="5314950"/>
              <a:ext cx="133350" cy="133350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004387" y="534019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3933825" y="5314950"/>
              <a:ext cx="133350" cy="133350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956887" y="534019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0070" y="6570345"/>
            <a:ext cx="11071860" cy="182880"/>
            <a:chOff x="560070" y="6570345"/>
            <a:chExt cx="110718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11201590" y="65703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06 / 13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60070" y="65703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张锦洋 · 个人简历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35" grpId="0"/>
      <p:bldP spid="52" grpId="0"/>
      <p:bldP spid="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914400"/>
              <a:ext cx="12192000" cy="3810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7210" y="260985"/>
              <a:ext cx="172478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项目经历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7212" y="659606"/>
              <a:ext cx="7104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Projects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0875" y="1202055"/>
            <a:ext cx="5929752" cy="621983"/>
            <a:chOff x="650875" y="1202055"/>
            <a:chExt cx="5929752" cy="621983"/>
          </a:xfrm>
        </p:grpSpPr>
        <p:grpSp>
          <p:nvGrpSpPr>
            <p:cNvPr id="17" name="Group 17"/>
            <p:cNvGrpSpPr/>
            <p:nvPr/>
          </p:nvGrpSpPr>
          <p:grpSpPr>
            <a:xfrm>
              <a:off x="650875" y="1270000"/>
              <a:ext cx="222250" cy="301625"/>
              <a:chOff x="650875" y="1270000"/>
              <a:chExt cx="222250" cy="3016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66750" y="1301750"/>
                <a:ext cx="190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270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95250"/>
                    </a:lnTo>
                    <a:cubicBezTo>
                      <a:pt x="190500" y="112785"/>
                      <a:pt x="176285" y="127000"/>
                      <a:pt x="15875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62000" y="12700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14375" y="14287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9625" y="14287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50875" y="14605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3175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9625" y="14605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0"/>
                    </a:moveTo>
                    <a:lnTo>
                      <a:pt x="6350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14375" y="15240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30250" y="1365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93750" y="1365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68705" y="1202055"/>
              <a:ext cx="55119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ROBOCOM 机器人开发者大赛备赛开发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78230" y="1549718"/>
              <a:ext cx="27749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技术负责人 · 2025.3 ~ 2025.8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0" y="1190625"/>
            <a:ext cx="2476500" cy="571500"/>
            <a:chOff x="9144000" y="1190625"/>
            <a:chExt cx="2476500" cy="571500"/>
          </a:xfrm>
        </p:grpSpPr>
        <p:sp>
          <p:nvSpPr>
            <p:cNvPr id="21" name="Freeform 21"/>
            <p:cNvSpPr/>
            <p:nvPr/>
          </p:nvSpPr>
          <p:spPr>
            <a:xfrm>
              <a:off x="9144000" y="1190625"/>
              <a:ext cx="2476500" cy="571500"/>
            </a:xfrm>
            <a:custGeom>
              <a:avLst/>
              <a:gdLst/>
              <a:ahLst/>
              <a:cxnLst/>
              <a:rect l="l" t="t" r="r" b="b"/>
              <a:pathLst>
                <a:path w="2476500" h="571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457200"/>
                  </a:lnTo>
                  <a:cubicBezTo>
                    <a:pt x="2476500" y="520326"/>
                    <a:pt x="2425326" y="571500"/>
                    <a:pt x="2362200" y="571500"/>
                  </a:cubicBezTo>
                  <a:lnTo>
                    <a:pt x="114300" y="571500"/>
                  </a:lnTo>
                  <a:cubicBezTo>
                    <a:pt x="51174" y="571500"/>
                    <a:pt x="0" y="520326"/>
                    <a:pt x="0" y="45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0D47A1"/>
                </a:gs>
                <a:gs pos="100000">
                  <a:srgbClr val="1565C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9356736" y="1385888"/>
              <a:ext cx="224381" cy="211137"/>
            </a:xfrm>
            <a:custGeom>
              <a:avLst/>
              <a:gdLst/>
              <a:ahLst/>
              <a:cxnLst/>
              <a:rect l="l" t="t" r="r" b="b"/>
              <a:pathLst>
                <a:path w="224381" h="211137">
                  <a:moveTo>
                    <a:pt x="166676" y="0"/>
                  </a:moveTo>
                  <a:cubicBezTo>
                    <a:pt x="172310" y="1"/>
                    <a:pt x="177052" y="4217"/>
                    <a:pt x="177711" y="9812"/>
                  </a:cubicBezTo>
                  <a:lnTo>
                    <a:pt x="177789" y="11112"/>
                  </a:lnTo>
                  <a:lnTo>
                    <a:pt x="177789" y="35227"/>
                  </a:lnTo>
                  <a:cubicBezTo>
                    <a:pt x="191601" y="30360"/>
                    <a:pt x="206972" y="35077"/>
                    <a:pt x="215677" y="46854"/>
                  </a:cubicBezTo>
                  <a:cubicBezTo>
                    <a:pt x="224381" y="58630"/>
                    <a:pt x="224381" y="74709"/>
                    <a:pt x="215677" y="86485"/>
                  </a:cubicBezTo>
                  <a:cubicBezTo>
                    <a:pt x="206972" y="98262"/>
                    <a:pt x="191601" y="102979"/>
                    <a:pt x="177789" y="98112"/>
                  </a:cubicBezTo>
                  <a:lnTo>
                    <a:pt x="177789" y="100012"/>
                  </a:lnTo>
                  <a:cubicBezTo>
                    <a:pt x="177785" y="132548"/>
                    <a:pt x="154306" y="160333"/>
                    <a:pt x="122226" y="165765"/>
                  </a:cubicBezTo>
                  <a:lnTo>
                    <a:pt x="122226" y="188913"/>
                  </a:lnTo>
                  <a:lnTo>
                    <a:pt x="155564" y="188913"/>
                  </a:lnTo>
                  <a:cubicBezTo>
                    <a:pt x="161443" y="188919"/>
                    <a:pt x="166300" y="193504"/>
                    <a:pt x="166645" y="199374"/>
                  </a:cubicBezTo>
                  <a:cubicBezTo>
                    <a:pt x="166990" y="205243"/>
                    <a:pt x="162702" y="210365"/>
                    <a:pt x="156864" y="211060"/>
                  </a:cubicBezTo>
                  <a:lnTo>
                    <a:pt x="155564" y="211137"/>
                  </a:lnTo>
                  <a:lnTo>
                    <a:pt x="66664" y="211137"/>
                  </a:lnTo>
                  <a:cubicBezTo>
                    <a:pt x="60784" y="211131"/>
                    <a:pt x="55927" y="206546"/>
                    <a:pt x="55583" y="200676"/>
                  </a:cubicBezTo>
                  <a:cubicBezTo>
                    <a:pt x="55238" y="194807"/>
                    <a:pt x="59525" y="189685"/>
                    <a:pt x="65364" y="188990"/>
                  </a:cubicBezTo>
                  <a:lnTo>
                    <a:pt x="66664" y="188913"/>
                  </a:lnTo>
                  <a:lnTo>
                    <a:pt x="100001" y="188913"/>
                  </a:lnTo>
                  <a:lnTo>
                    <a:pt x="100001" y="165765"/>
                  </a:lnTo>
                  <a:cubicBezTo>
                    <a:pt x="68850" y="160492"/>
                    <a:pt x="45672" y="134085"/>
                    <a:pt x="44483" y="102513"/>
                  </a:cubicBezTo>
                  <a:lnTo>
                    <a:pt x="44439" y="100012"/>
                  </a:lnTo>
                  <a:lnTo>
                    <a:pt x="44439" y="98112"/>
                  </a:lnTo>
                  <a:cubicBezTo>
                    <a:pt x="34558" y="101610"/>
                    <a:pt x="23607" y="100257"/>
                    <a:pt x="14875" y="94459"/>
                  </a:cubicBezTo>
                  <a:cubicBezTo>
                    <a:pt x="6142" y="88662"/>
                    <a:pt x="645" y="79095"/>
                    <a:pt x="33" y="68631"/>
                  </a:cubicBezTo>
                  <a:lnTo>
                    <a:pt x="0" y="66675"/>
                  </a:lnTo>
                  <a:lnTo>
                    <a:pt x="56" y="64719"/>
                  </a:lnTo>
                  <a:cubicBezTo>
                    <a:pt x="665" y="54256"/>
                    <a:pt x="6159" y="44688"/>
                    <a:pt x="14889" y="38889"/>
                  </a:cubicBezTo>
                  <a:cubicBezTo>
                    <a:pt x="23619" y="33089"/>
                    <a:pt x="34569" y="31733"/>
                    <a:pt x="44450" y="35227"/>
                  </a:cubicBezTo>
                  <a:lnTo>
                    <a:pt x="44439" y="11112"/>
                  </a:lnTo>
                  <a:cubicBezTo>
                    <a:pt x="44439" y="4975"/>
                    <a:pt x="49414" y="0"/>
                    <a:pt x="55551" y="0"/>
                  </a:cubicBezTo>
                  <a:lnTo>
                    <a:pt x="166676" y="0"/>
                  </a:lnTo>
                  <a:close/>
                  <a:moveTo>
                    <a:pt x="33326" y="55563"/>
                  </a:moveTo>
                  <a:cubicBezTo>
                    <a:pt x="27189" y="55563"/>
                    <a:pt x="22214" y="60538"/>
                    <a:pt x="22214" y="66675"/>
                  </a:cubicBezTo>
                  <a:cubicBezTo>
                    <a:pt x="22214" y="72812"/>
                    <a:pt x="27189" y="77787"/>
                    <a:pt x="33326" y="77787"/>
                  </a:cubicBezTo>
                  <a:cubicBezTo>
                    <a:pt x="39464" y="77787"/>
                    <a:pt x="44439" y="72812"/>
                    <a:pt x="44439" y="66675"/>
                  </a:cubicBezTo>
                  <a:cubicBezTo>
                    <a:pt x="44439" y="60538"/>
                    <a:pt x="39464" y="55563"/>
                    <a:pt x="33326" y="55563"/>
                  </a:cubicBezTo>
                  <a:moveTo>
                    <a:pt x="188901" y="55563"/>
                  </a:moveTo>
                  <a:cubicBezTo>
                    <a:pt x="182764" y="55563"/>
                    <a:pt x="177789" y="60538"/>
                    <a:pt x="177789" y="66675"/>
                  </a:cubicBezTo>
                  <a:cubicBezTo>
                    <a:pt x="177789" y="72812"/>
                    <a:pt x="182764" y="77787"/>
                    <a:pt x="188901" y="77787"/>
                  </a:cubicBezTo>
                  <a:cubicBezTo>
                    <a:pt x="195039" y="77787"/>
                    <a:pt x="200014" y="72812"/>
                    <a:pt x="200014" y="66675"/>
                  </a:cubicBezTo>
                  <a:cubicBezTo>
                    <a:pt x="200014" y="60538"/>
                    <a:pt x="195039" y="55563"/>
                    <a:pt x="188901" y="555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99308" y="1338739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国家级三等奖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04070" y="1569720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国家级竞赛成果</a:t>
              </a:r>
            </a:p>
          </p:txBody>
        </p:sp>
      </p:grpSp>
      <p:sp>
        <p:nvSpPr>
          <p:cNvPr id="26" name="Line 26"/>
          <p:cNvSpPr/>
          <p:nvPr/>
        </p:nvSpPr>
        <p:spPr>
          <a:xfrm>
            <a:off x="571500" y="1905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571500" y="2095500"/>
            <a:ext cx="6435090" cy="2762250"/>
            <a:chOff x="571500" y="2095500"/>
            <a:chExt cx="6435090" cy="2762250"/>
          </a:xfrm>
        </p:grpSpPr>
        <p:sp>
          <p:nvSpPr>
            <p:cNvPr id="27" name="Freeform 27"/>
            <p:cNvSpPr/>
            <p:nvPr/>
          </p:nvSpPr>
          <p:spPr>
            <a:xfrm>
              <a:off x="571500" y="2095500"/>
              <a:ext cx="5143500" cy="2762250"/>
            </a:xfrm>
            <a:custGeom>
              <a:avLst/>
              <a:gdLst/>
              <a:ahLst/>
              <a:cxnLst/>
              <a:rect l="l" t="t" r="r" b="b"/>
              <a:pathLst>
                <a:path w="5143500" h="2762250">
                  <a:moveTo>
                    <a:pt x="114300" y="0"/>
                  </a:moveTo>
                  <a:lnTo>
                    <a:pt x="5029200" y="0"/>
                  </a:lnTo>
                  <a:cubicBezTo>
                    <a:pt x="5092326" y="0"/>
                    <a:pt x="5143500" y="51174"/>
                    <a:pt x="5143500" y="114300"/>
                  </a:cubicBezTo>
                  <a:lnTo>
                    <a:pt x="5143500" y="2647950"/>
                  </a:lnTo>
                  <a:cubicBezTo>
                    <a:pt x="5143500" y="2711076"/>
                    <a:pt x="5092326" y="2762250"/>
                    <a:pt x="5029200" y="2762250"/>
                  </a:cubicBezTo>
                  <a:lnTo>
                    <a:pt x="114300" y="2762250"/>
                  </a:lnTo>
                  <a:cubicBezTo>
                    <a:pt x="51174" y="2762250"/>
                    <a:pt x="0" y="2711076"/>
                    <a:pt x="0" y="2647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4F6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0105" y="2283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项目描述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2010" y="2585085"/>
              <a:ext cx="6164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带领团队完成六足机器人整体设计，实现行走、翻越、低身位爬行等核心功能。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0105" y="30927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个人职责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66775" y="348615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33462" y="3459956"/>
              <a:ext cx="56149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带领团队完成六足机器人整体设计，实现行走、翻越、低身位爬行等核心功能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66775" y="4010025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33462" y="3983831"/>
              <a:ext cx="4744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为机器人开发"全程无线"远程调试功能与通用型"2.4G 遥控"功能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0" y="2095500"/>
            <a:ext cx="5524500" cy="2762250"/>
            <a:chOff x="6096000" y="2095500"/>
            <a:chExt cx="5524500" cy="2762250"/>
          </a:xfrm>
        </p:grpSpPr>
        <p:sp>
          <p:nvSpPr>
            <p:cNvPr id="36" name="Freeform 36"/>
            <p:cNvSpPr/>
            <p:nvPr/>
          </p:nvSpPr>
          <p:spPr>
            <a:xfrm>
              <a:off x="6096000" y="2095500"/>
              <a:ext cx="5524500" cy="2762250"/>
            </a:xfrm>
            <a:custGeom>
              <a:avLst/>
              <a:gdLst/>
              <a:ahLst/>
              <a:cxnLst/>
              <a:rect l="l" t="t" r="r" b="b"/>
              <a:pathLst>
                <a:path w="5524500" h="276225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2647950"/>
                  </a:lnTo>
                  <a:cubicBezTo>
                    <a:pt x="5524500" y="2711076"/>
                    <a:pt x="5473326" y="2762250"/>
                    <a:pt x="5410200" y="2762250"/>
                  </a:cubicBezTo>
                  <a:lnTo>
                    <a:pt x="114300" y="2762250"/>
                  </a:lnTo>
                  <a:cubicBezTo>
                    <a:pt x="51174" y="2762250"/>
                    <a:pt x="0" y="2711076"/>
                    <a:pt x="0" y="2647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4F6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64605" y="228314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技术栈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381750" y="261937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12731" y="27441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足式机器人设计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8096250" y="261937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03908" y="27441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无线调试开发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810750" y="261937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080069" y="2744152"/>
              <a:ext cx="10234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2.4G 遥控系统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381750" y="309562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89408" y="32204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硬件功能适配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8096250" y="309562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80584" y="32204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六足机器人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9810750" y="309562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271760" y="32204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远程调试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64605" y="3664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项目成果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66510" y="4013835"/>
              <a:ext cx="4411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带领团队完成六足机器人开发，最终获得国家级三等奖。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5143500"/>
            <a:ext cx="11049000" cy="476250"/>
            <a:chOff x="571500" y="5143500"/>
            <a:chExt cx="11049000" cy="476250"/>
          </a:xfrm>
        </p:grpSpPr>
        <p:sp>
          <p:nvSpPr>
            <p:cNvPr id="53" name="Freeform 53"/>
            <p:cNvSpPr/>
            <p:nvPr/>
          </p:nvSpPr>
          <p:spPr>
            <a:xfrm>
              <a:off x="571500" y="5143500"/>
              <a:ext cx="11049000" cy="476250"/>
            </a:xfrm>
            <a:custGeom>
              <a:avLst/>
              <a:gdLst/>
              <a:ahLst/>
              <a:cxnLst/>
              <a:rect l="l" t="t" r="r" b="b"/>
              <a:pathLst>
                <a:path w="11049000" h="47625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381000"/>
                  </a:lnTo>
                  <a:cubicBezTo>
                    <a:pt x="11049000" y="433605"/>
                    <a:pt x="11006355" y="476250"/>
                    <a:pt x="10953750" y="476250"/>
                  </a:cubicBezTo>
                  <a:lnTo>
                    <a:pt x="95250" y="476250"/>
                  </a:lnTo>
                  <a:cubicBezTo>
                    <a:pt x="42645" y="476250"/>
                    <a:pt x="0" y="433605"/>
                    <a:pt x="0" y="381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4F6F9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1343025" y="5314950"/>
              <a:ext cx="133350" cy="133350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381149" y="5340191"/>
              <a:ext cx="571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2295525" y="5314950"/>
              <a:ext cx="133350" cy="133350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318587" y="534019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2924175" y="5257800"/>
              <a:ext cx="342900" cy="247650"/>
            </a:xfrm>
            <a:custGeom>
              <a:avLst/>
              <a:gdLst/>
              <a:ahLst/>
              <a:cxnLst/>
              <a:rect l="l" t="t" r="r" b="b"/>
              <a:pathLst>
                <a:path w="342900" h="247650">
                  <a:moveTo>
                    <a:pt x="123825" y="0"/>
                  </a:moveTo>
                  <a:lnTo>
                    <a:pt x="219075" y="0"/>
                  </a:lnTo>
                  <a:cubicBezTo>
                    <a:pt x="287462" y="0"/>
                    <a:pt x="342900" y="55438"/>
                    <a:pt x="342900" y="123825"/>
                  </a:cubicBezTo>
                  <a:lnTo>
                    <a:pt x="342900" y="123825"/>
                  </a:lnTo>
                  <a:cubicBezTo>
                    <a:pt x="342900" y="192212"/>
                    <a:pt x="287462" y="247650"/>
                    <a:pt x="2190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042125" y="53335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3933825" y="5314950"/>
              <a:ext cx="133350" cy="133350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956887" y="534019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0070" y="6570345"/>
            <a:ext cx="11071860" cy="182880"/>
            <a:chOff x="560070" y="6570345"/>
            <a:chExt cx="110718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11201590" y="65703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07 / 13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60070" y="65703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张锦洋 · 个人简历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35" grpId="0"/>
      <p:bldP spid="52" grpId="0"/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914400"/>
              <a:ext cx="12192000" cy="3810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7210" y="260985"/>
              <a:ext cx="172478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项目经历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7212" y="659606"/>
              <a:ext cx="7104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Projects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0875" y="1202055"/>
            <a:ext cx="4641591" cy="621983"/>
            <a:chOff x="650875" y="1202055"/>
            <a:chExt cx="4641591" cy="621983"/>
          </a:xfrm>
        </p:grpSpPr>
        <p:grpSp>
          <p:nvGrpSpPr>
            <p:cNvPr id="17" name="Group 17"/>
            <p:cNvGrpSpPr/>
            <p:nvPr/>
          </p:nvGrpSpPr>
          <p:grpSpPr>
            <a:xfrm>
              <a:off x="650875" y="1270000"/>
              <a:ext cx="222250" cy="301625"/>
              <a:chOff x="650875" y="1270000"/>
              <a:chExt cx="222250" cy="3016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66750" y="1301750"/>
                <a:ext cx="190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270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95250"/>
                    </a:lnTo>
                    <a:cubicBezTo>
                      <a:pt x="190500" y="112785"/>
                      <a:pt x="176285" y="127000"/>
                      <a:pt x="15875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62000" y="12700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14375" y="14287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9625" y="14287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50875" y="14605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3175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9625" y="14605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0"/>
                    </a:moveTo>
                    <a:lnTo>
                      <a:pt x="63500" y="317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14375" y="15240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30250" y="1365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93750" y="1365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68705" y="1202055"/>
              <a:ext cx="42237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AGV 小车硬件开发与代码调试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78230" y="1549718"/>
              <a:ext cx="27749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技术负责人 · 2025.3 ~ 2025.8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0" y="1190625"/>
            <a:ext cx="2476500" cy="571500"/>
            <a:chOff x="9144000" y="1190625"/>
            <a:chExt cx="2476500" cy="571500"/>
          </a:xfrm>
        </p:grpSpPr>
        <p:sp>
          <p:nvSpPr>
            <p:cNvPr id="21" name="Freeform 21"/>
            <p:cNvSpPr/>
            <p:nvPr/>
          </p:nvSpPr>
          <p:spPr>
            <a:xfrm>
              <a:off x="9144000" y="1190625"/>
              <a:ext cx="2476500" cy="571500"/>
            </a:xfrm>
            <a:custGeom>
              <a:avLst/>
              <a:gdLst/>
              <a:ahLst/>
              <a:cxnLst/>
              <a:rect l="l" t="t" r="r" b="b"/>
              <a:pathLst>
                <a:path w="2476500" h="571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457200"/>
                  </a:lnTo>
                  <a:cubicBezTo>
                    <a:pt x="2476500" y="520326"/>
                    <a:pt x="2425326" y="571500"/>
                    <a:pt x="2362200" y="571500"/>
                  </a:cubicBezTo>
                  <a:lnTo>
                    <a:pt x="114300" y="571500"/>
                  </a:lnTo>
                  <a:cubicBezTo>
                    <a:pt x="51174" y="571500"/>
                    <a:pt x="0" y="520326"/>
                    <a:pt x="0" y="45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0D47A1"/>
                </a:gs>
                <a:gs pos="100000">
                  <a:srgbClr val="1565C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9356736" y="1385888"/>
              <a:ext cx="224381" cy="211137"/>
            </a:xfrm>
            <a:custGeom>
              <a:avLst/>
              <a:gdLst/>
              <a:ahLst/>
              <a:cxnLst/>
              <a:rect l="l" t="t" r="r" b="b"/>
              <a:pathLst>
                <a:path w="224381" h="211137">
                  <a:moveTo>
                    <a:pt x="166676" y="0"/>
                  </a:moveTo>
                  <a:cubicBezTo>
                    <a:pt x="172310" y="1"/>
                    <a:pt x="177052" y="4217"/>
                    <a:pt x="177711" y="9812"/>
                  </a:cubicBezTo>
                  <a:lnTo>
                    <a:pt x="177789" y="11112"/>
                  </a:lnTo>
                  <a:lnTo>
                    <a:pt x="177789" y="35227"/>
                  </a:lnTo>
                  <a:cubicBezTo>
                    <a:pt x="191601" y="30360"/>
                    <a:pt x="206972" y="35077"/>
                    <a:pt x="215677" y="46854"/>
                  </a:cubicBezTo>
                  <a:cubicBezTo>
                    <a:pt x="224381" y="58630"/>
                    <a:pt x="224381" y="74709"/>
                    <a:pt x="215677" y="86485"/>
                  </a:cubicBezTo>
                  <a:cubicBezTo>
                    <a:pt x="206972" y="98262"/>
                    <a:pt x="191601" y="102979"/>
                    <a:pt x="177789" y="98112"/>
                  </a:cubicBezTo>
                  <a:lnTo>
                    <a:pt x="177789" y="100012"/>
                  </a:lnTo>
                  <a:cubicBezTo>
                    <a:pt x="177785" y="132548"/>
                    <a:pt x="154306" y="160333"/>
                    <a:pt x="122226" y="165765"/>
                  </a:cubicBezTo>
                  <a:lnTo>
                    <a:pt x="122226" y="188913"/>
                  </a:lnTo>
                  <a:lnTo>
                    <a:pt x="155564" y="188913"/>
                  </a:lnTo>
                  <a:cubicBezTo>
                    <a:pt x="161443" y="188919"/>
                    <a:pt x="166300" y="193504"/>
                    <a:pt x="166645" y="199374"/>
                  </a:cubicBezTo>
                  <a:cubicBezTo>
                    <a:pt x="166990" y="205243"/>
                    <a:pt x="162702" y="210365"/>
                    <a:pt x="156864" y="211060"/>
                  </a:cubicBezTo>
                  <a:lnTo>
                    <a:pt x="155564" y="211137"/>
                  </a:lnTo>
                  <a:lnTo>
                    <a:pt x="66664" y="211137"/>
                  </a:lnTo>
                  <a:cubicBezTo>
                    <a:pt x="60784" y="211131"/>
                    <a:pt x="55927" y="206546"/>
                    <a:pt x="55583" y="200676"/>
                  </a:cubicBezTo>
                  <a:cubicBezTo>
                    <a:pt x="55238" y="194807"/>
                    <a:pt x="59525" y="189685"/>
                    <a:pt x="65364" y="188990"/>
                  </a:cubicBezTo>
                  <a:lnTo>
                    <a:pt x="66664" y="188913"/>
                  </a:lnTo>
                  <a:lnTo>
                    <a:pt x="100001" y="188913"/>
                  </a:lnTo>
                  <a:lnTo>
                    <a:pt x="100001" y="165765"/>
                  </a:lnTo>
                  <a:cubicBezTo>
                    <a:pt x="68850" y="160492"/>
                    <a:pt x="45672" y="134085"/>
                    <a:pt x="44483" y="102513"/>
                  </a:cubicBezTo>
                  <a:lnTo>
                    <a:pt x="44439" y="100012"/>
                  </a:lnTo>
                  <a:lnTo>
                    <a:pt x="44439" y="98112"/>
                  </a:lnTo>
                  <a:cubicBezTo>
                    <a:pt x="34558" y="101610"/>
                    <a:pt x="23607" y="100257"/>
                    <a:pt x="14875" y="94459"/>
                  </a:cubicBezTo>
                  <a:cubicBezTo>
                    <a:pt x="6142" y="88662"/>
                    <a:pt x="645" y="79095"/>
                    <a:pt x="33" y="68631"/>
                  </a:cubicBezTo>
                  <a:lnTo>
                    <a:pt x="0" y="66675"/>
                  </a:lnTo>
                  <a:lnTo>
                    <a:pt x="56" y="64719"/>
                  </a:lnTo>
                  <a:cubicBezTo>
                    <a:pt x="665" y="54256"/>
                    <a:pt x="6159" y="44688"/>
                    <a:pt x="14889" y="38889"/>
                  </a:cubicBezTo>
                  <a:cubicBezTo>
                    <a:pt x="23619" y="33089"/>
                    <a:pt x="34569" y="31733"/>
                    <a:pt x="44450" y="35227"/>
                  </a:cubicBezTo>
                  <a:lnTo>
                    <a:pt x="44439" y="11112"/>
                  </a:lnTo>
                  <a:cubicBezTo>
                    <a:pt x="44439" y="4975"/>
                    <a:pt x="49414" y="0"/>
                    <a:pt x="55551" y="0"/>
                  </a:cubicBezTo>
                  <a:lnTo>
                    <a:pt x="166676" y="0"/>
                  </a:lnTo>
                  <a:close/>
                  <a:moveTo>
                    <a:pt x="33326" y="55563"/>
                  </a:moveTo>
                  <a:cubicBezTo>
                    <a:pt x="27189" y="55563"/>
                    <a:pt x="22214" y="60538"/>
                    <a:pt x="22214" y="66675"/>
                  </a:cubicBezTo>
                  <a:cubicBezTo>
                    <a:pt x="22214" y="72812"/>
                    <a:pt x="27189" y="77787"/>
                    <a:pt x="33326" y="77787"/>
                  </a:cubicBezTo>
                  <a:cubicBezTo>
                    <a:pt x="39464" y="77787"/>
                    <a:pt x="44439" y="72812"/>
                    <a:pt x="44439" y="66675"/>
                  </a:cubicBezTo>
                  <a:cubicBezTo>
                    <a:pt x="44439" y="60538"/>
                    <a:pt x="39464" y="55563"/>
                    <a:pt x="33326" y="55563"/>
                  </a:cubicBezTo>
                  <a:moveTo>
                    <a:pt x="188901" y="55563"/>
                  </a:moveTo>
                  <a:cubicBezTo>
                    <a:pt x="182764" y="55563"/>
                    <a:pt x="177789" y="60538"/>
                    <a:pt x="177789" y="66675"/>
                  </a:cubicBezTo>
                  <a:cubicBezTo>
                    <a:pt x="177789" y="72812"/>
                    <a:pt x="182764" y="77787"/>
                    <a:pt x="188901" y="77787"/>
                  </a:cubicBezTo>
                  <a:cubicBezTo>
                    <a:pt x="195039" y="77787"/>
                    <a:pt x="200014" y="72812"/>
                    <a:pt x="200014" y="66675"/>
                  </a:cubicBezTo>
                  <a:cubicBezTo>
                    <a:pt x="200014" y="60538"/>
                    <a:pt x="195039" y="55563"/>
                    <a:pt x="188901" y="555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99308" y="1338739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成功实现功能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04070" y="1569720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雷达建图与巡航</a:t>
              </a:r>
            </a:p>
          </p:txBody>
        </p:sp>
      </p:grpSp>
      <p:sp>
        <p:nvSpPr>
          <p:cNvPr id="26" name="Line 26"/>
          <p:cNvSpPr/>
          <p:nvPr/>
        </p:nvSpPr>
        <p:spPr>
          <a:xfrm>
            <a:off x="571500" y="1905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571500" y="2095500"/>
            <a:ext cx="6478905" cy="2762250"/>
            <a:chOff x="571500" y="2095500"/>
            <a:chExt cx="6478905" cy="2762250"/>
          </a:xfrm>
        </p:grpSpPr>
        <p:sp>
          <p:nvSpPr>
            <p:cNvPr id="27" name="Freeform 27"/>
            <p:cNvSpPr/>
            <p:nvPr/>
          </p:nvSpPr>
          <p:spPr>
            <a:xfrm>
              <a:off x="571500" y="2095500"/>
              <a:ext cx="5143500" cy="2762250"/>
            </a:xfrm>
            <a:custGeom>
              <a:avLst/>
              <a:gdLst/>
              <a:ahLst/>
              <a:cxnLst/>
              <a:rect l="l" t="t" r="r" b="b"/>
              <a:pathLst>
                <a:path w="5143500" h="2762250">
                  <a:moveTo>
                    <a:pt x="114300" y="0"/>
                  </a:moveTo>
                  <a:lnTo>
                    <a:pt x="5029200" y="0"/>
                  </a:lnTo>
                  <a:cubicBezTo>
                    <a:pt x="5092326" y="0"/>
                    <a:pt x="5143500" y="51174"/>
                    <a:pt x="5143500" y="114300"/>
                  </a:cubicBezTo>
                  <a:lnTo>
                    <a:pt x="5143500" y="2647950"/>
                  </a:lnTo>
                  <a:cubicBezTo>
                    <a:pt x="5143500" y="2711076"/>
                    <a:pt x="5092326" y="2762250"/>
                    <a:pt x="5029200" y="2762250"/>
                  </a:cubicBezTo>
                  <a:lnTo>
                    <a:pt x="114300" y="2762250"/>
                  </a:lnTo>
                  <a:cubicBezTo>
                    <a:pt x="51174" y="2762250"/>
                    <a:pt x="0" y="2711076"/>
                    <a:pt x="0" y="2647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4F6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0105" y="2283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项目描述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2010" y="2585085"/>
              <a:ext cx="62083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基于 ROS2 的 AGV 小车硬件设计与软件开发，实现雷达建图与自动化巡航功能。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0105" y="30927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个人职责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66775" y="348615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33462" y="3459956"/>
              <a:ext cx="51631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参与 AGV 小车硬件模块设计，完成硬件器件选型、电路搭建及硬件调试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66775" y="4010025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33462" y="3983831"/>
              <a:ext cx="4793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基于轮趣开源 ROS2 方案进行开发，编写并调试小车控制相关代码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0" y="2095500"/>
            <a:ext cx="6128385" cy="2762250"/>
            <a:chOff x="6096000" y="2095500"/>
            <a:chExt cx="6128385" cy="2762250"/>
          </a:xfrm>
        </p:grpSpPr>
        <p:sp>
          <p:nvSpPr>
            <p:cNvPr id="36" name="Freeform 36"/>
            <p:cNvSpPr/>
            <p:nvPr/>
          </p:nvSpPr>
          <p:spPr>
            <a:xfrm>
              <a:off x="6096000" y="2095500"/>
              <a:ext cx="5524500" cy="2762250"/>
            </a:xfrm>
            <a:custGeom>
              <a:avLst/>
              <a:gdLst/>
              <a:ahLst/>
              <a:cxnLst/>
              <a:rect l="l" t="t" r="r" b="b"/>
              <a:pathLst>
                <a:path w="5524500" h="276225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2647950"/>
                  </a:lnTo>
                  <a:cubicBezTo>
                    <a:pt x="5524500" y="2711076"/>
                    <a:pt x="5473326" y="2762250"/>
                    <a:pt x="5410200" y="2762250"/>
                  </a:cubicBezTo>
                  <a:lnTo>
                    <a:pt x="114300" y="2762250"/>
                  </a:lnTo>
                  <a:cubicBezTo>
                    <a:pt x="51174" y="2762250"/>
                    <a:pt x="0" y="2711076"/>
                    <a:pt x="0" y="2647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4F6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64605" y="228314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技术栈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381750" y="261937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93241" y="2744152"/>
              <a:ext cx="939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AGV 硬件设计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8096250" y="261937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503587" y="2744152"/>
              <a:ext cx="747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ROS2 开发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810750" y="261937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271760" y="27441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雷达建图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381750" y="309562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66084" y="32204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自动化巡航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8096250" y="309562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57260" y="32204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代码调试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9810750" y="3095625"/>
              <a:ext cx="1571625" cy="342900"/>
            </a:xfrm>
            <a:custGeom>
              <a:avLst/>
              <a:gdLst/>
              <a:ahLst/>
              <a:cxnLst/>
              <a:rect l="l" t="t" r="r" b="b"/>
              <a:pathLst>
                <a:path w="1571625" h="342900">
                  <a:moveTo>
                    <a:pt x="76200" y="0"/>
                  </a:moveTo>
                  <a:lnTo>
                    <a:pt x="1495425" y="0"/>
                  </a:lnTo>
                  <a:cubicBezTo>
                    <a:pt x="1537509" y="0"/>
                    <a:pt x="1571625" y="34116"/>
                    <a:pt x="1571625" y="76200"/>
                  </a:cubicBezTo>
                  <a:lnTo>
                    <a:pt x="1571625" y="266700"/>
                  </a:lnTo>
                  <a:cubicBezTo>
                    <a:pt x="1571625" y="308784"/>
                    <a:pt x="1537509" y="342900"/>
                    <a:pt x="1495425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118408" y="32204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轮趣开源方案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64605" y="3664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项目成果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66510" y="4013835"/>
              <a:ext cx="58578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成功实现 AGV 小车雷达建图与自动化巡航功能，熟练掌握 ROS2 开发流程。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5143500"/>
            <a:ext cx="11049000" cy="476250"/>
            <a:chOff x="571500" y="5143500"/>
            <a:chExt cx="11049000" cy="476250"/>
          </a:xfrm>
        </p:grpSpPr>
        <p:sp>
          <p:nvSpPr>
            <p:cNvPr id="53" name="Freeform 53"/>
            <p:cNvSpPr/>
            <p:nvPr/>
          </p:nvSpPr>
          <p:spPr>
            <a:xfrm>
              <a:off x="571500" y="5143500"/>
              <a:ext cx="11049000" cy="476250"/>
            </a:xfrm>
            <a:custGeom>
              <a:avLst/>
              <a:gdLst/>
              <a:ahLst/>
              <a:cxnLst/>
              <a:rect l="l" t="t" r="r" b="b"/>
              <a:pathLst>
                <a:path w="11049000" h="47625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381000"/>
                  </a:lnTo>
                  <a:cubicBezTo>
                    <a:pt x="11049000" y="433605"/>
                    <a:pt x="11006355" y="476250"/>
                    <a:pt x="10953750" y="476250"/>
                  </a:cubicBezTo>
                  <a:lnTo>
                    <a:pt x="95250" y="476250"/>
                  </a:lnTo>
                  <a:cubicBezTo>
                    <a:pt x="42645" y="476250"/>
                    <a:pt x="0" y="433605"/>
                    <a:pt x="0" y="381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4F6F9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1343025" y="5314950"/>
              <a:ext cx="133350" cy="133350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381149" y="5340191"/>
              <a:ext cx="571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2295525" y="5314950"/>
              <a:ext cx="133350" cy="133350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318587" y="534019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3248025" y="5314950"/>
              <a:ext cx="133350" cy="133350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271087" y="534019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3876675" y="5257800"/>
              <a:ext cx="342900" cy="247650"/>
            </a:xfrm>
            <a:custGeom>
              <a:avLst/>
              <a:gdLst/>
              <a:ahLst/>
              <a:cxnLst/>
              <a:rect l="l" t="t" r="r" b="b"/>
              <a:pathLst>
                <a:path w="342900" h="247650">
                  <a:moveTo>
                    <a:pt x="123825" y="0"/>
                  </a:moveTo>
                  <a:lnTo>
                    <a:pt x="219075" y="0"/>
                  </a:lnTo>
                  <a:cubicBezTo>
                    <a:pt x="287462" y="0"/>
                    <a:pt x="342900" y="55438"/>
                    <a:pt x="342900" y="123825"/>
                  </a:cubicBezTo>
                  <a:lnTo>
                    <a:pt x="342900" y="123825"/>
                  </a:lnTo>
                  <a:cubicBezTo>
                    <a:pt x="342900" y="192212"/>
                    <a:pt x="287462" y="247650"/>
                    <a:pt x="2190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994625" y="53335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0070" y="6570345"/>
            <a:ext cx="11071860" cy="182880"/>
            <a:chOff x="560070" y="6570345"/>
            <a:chExt cx="110718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11201590" y="65703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08 / 13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60070" y="65703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张锦洋 · 个人简历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35" grpId="0"/>
      <p:bldP spid="52" grpId="0"/>
      <p:bldP spid="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0" y="-1905000"/>
            <a:ext cx="5715000" cy="5715000"/>
          </a:xfrm>
          <a:prstGeom prst="ellipse">
            <a:avLst/>
          </a:prstGeom>
          <a:solidFill>
            <a:srgbClr val="1565C0">
              <a:alpha val="3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914400"/>
              <a:ext cx="12192000" cy="3810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37210" y="260985"/>
              <a:ext cx="172478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专业技能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212" y="659606"/>
              <a:ext cx="447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Skills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19100" y="1333500"/>
            <a:ext cx="5495925" cy="2667000"/>
            <a:chOff x="419100" y="1333500"/>
            <a:chExt cx="5495925" cy="2667000"/>
          </a:xfrm>
        </p:grpSpPr>
        <p:sp>
          <p:nvSpPr>
            <p:cNvPr id="9" name="Freeform 9"/>
            <p:cNvSpPr/>
            <p:nvPr/>
          </p:nvSpPr>
          <p:spPr>
            <a:xfrm>
              <a:off x="419100" y="1333500"/>
              <a:ext cx="5495925" cy="2667000"/>
            </a:xfrm>
            <a:custGeom>
              <a:avLst/>
              <a:gdLst/>
              <a:ahLst/>
              <a:cxnLst/>
              <a:rect l="l" t="t" r="r" b="b"/>
              <a:pathLst>
                <a:path w="5495925" h="2667000">
                  <a:moveTo>
                    <a:pt x="152400" y="0"/>
                  </a:moveTo>
                  <a:lnTo>
                    <a:pt x="5343525" y="0"/>
                  </a:lnTo>
                  <a:cubicBezTo>
                    <a:pt x="5427693" y="0"/>
                    <a:pt x="5495925" y="68232"/>
                    <a:pt x="5495925" y="152400"/>
                  </a:cubicBezTo>
                  <a:lnTo>
                    <a:pt x="5495925" y="2514600"/>
                  </a:lnTo>
                  <a:cubicBezTo>
                    <a:pt x="5495925" y="2598768"/>
                    <a:pt x="5427693" y="2667000"/>
                    <a:pt x="5343525" y="2667000"/>
                  </a:cubicBezTo>
                  <a:lnTo>
                    <a:pt x="152400" y="2667000"/>
                  </a:lnTo>
                  <a:cubicBezTo>
                    <a:pt x="68232" y="2667000"/>
                    <a:pt x="0" y="2598768"/>
                    <a:pt x="0" y="251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9100" y="1333500"/>
              <a:ext cx="57150" cy="2667000"/>
            </a:xfrm>
            <a:custGeom>
              <a:avLst/>
              <a:gdLst/>
              <a:ahLst/>
              <a:cxnLst/>
              <a:rect l="l" t="t" r="r" b="b"/>
              <a:pathLst>
                <a:path w="57150" h="26670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638425"/>
                  </a:lnTo>
                  <a:cubicBezTo>
                    <a:pt x="57150" y="2654207"/>
                    <a:pt x="44357" y="2667000"/>
                    <a:pt x="28575" y="2667000"/>
                  </a:cubicBezTo>
                  <a:lnTo>
                    <a:pt x="28575" y="2667000"/>
                  </a:lnTo>
                  <a:cubicBezTo>
                    <a:pt x="12793" y="2667000"/>
                    <a:pt x="0" y="2654207"/>
                    <a:pt x="0" y="2638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571500" cy="571500"/>
            </a:xfrm>
            <a:prstGeom prst="roundRect">
              <a:avLst>
                <a:gd name="adj" fmla="val 23333"/>
              </a:avLst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127125" y="1952022"/>
              <a:ext cx="222250" cy="247694"/>
              <a:chOff x="1127125" y="1952022"/>
              <a:chExt cx="222250" cy="24769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127125" y="1952022"/>
                <a:ext cx="222250" cy="137602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37602">
                    <a:moveTo>
                      <a:pt x="222250" y="56166"/>
                    </a:moveTo>
                    <a:lnTo>
                      <a:pt x="222250" y="97901"/>
                    </a:lnTo>
                    <a:cubicBezTo>
                      <a:pt x="153486" y="137602"/>
                      <a:pt x="68764" y="137602"/>
                      <a:pt x="0" y="97901"/>
                    </a:cubicBezTo>
                    <a:lnTo>
                      <a:pt x="0" y="56150"/>
                    </a:lnTo>
                    <a:cubicBezTo>
                      <a:pt x="21177" y="64500"/>
                      <a:pt x="44545" y="67262"/>
                      <a:pt x="68644" y="63675"/>
                    </a:cubicBezTo>
                    <a:cubicBezTo>
                      <a:pt x="69164" y="52729"/>
                      <a:pt x="67413" y="41795"/>
                      <a:pt x="63500" y="31559"/>
                    </a:cubicBezTo>
                    <a:lnTo>
                      <a:pt x="30559" y="23336"/>
                    </a:lnTo>
                    <a:cubicBezTo>
                      <a:pt x="50159" y="10924"/>
                      <a:pt x="72240" y="2958"/>
                      <a:pt x="95250" y="0"/>
                    </a:cubicBezTo>
                    <a:lnTo>
                      <a:pt x="95250" y="32306"/>
                    </a:lnTo>
                    <a:cubicBezTo>
                      <a:pt x="105725" y="34444"/>
                      <a:pt x="116525" y="34444"/>
                      <a:pt x="127000" y="32306"/>
                    </a:cubicBezTo>
                    <a:lnTo>
                      <a:pt x="127000" y="16"/>
                    </a:lnTo>
                    <a:cubicBezTo>
                      <a:pt x="150010" y="2974"/>
                      <a:pt x="172091" y="10940"/>
                      <a:pt x="191691" y="23352"/>
                    </a:cubicBezTo>
                    <a:lnTo>
                      <a:pt x="158750" y="31575"/>
                    </a:lnTo>
                    <a:cubicBezTo>
                      <a:pt x="154837" y="41811"/>
                      <a:pt x="153086" y="52745"/>
                      <a:pt x="153607" y="63691"/>
                    </a:cubicBezTo>
                    <a:cubicBezTo>
                      <a:pt x="177705" y="67278"/>
                      <a:pt x="201073" y="64516"/>
                      <a:pt x="222250" y="5616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27125" y="2083070"/>
                <a:ext cx="222250" cy="53146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53146">
                    <a:moveTo>
                      <a:pt x="0" y="21225"/>
                    </a:moveTo>
                    <a:lnTo>
                      <a:pt x="0" y="0"/>
                    </a:lnTo>
                    <a:cubicBezTo>
                      <a:pt x="70645" y="31921"/>
                      <a:pt x="151605" y="31921"/>
                      <a:pt x="222250" y="0"/>
                    </a:cubicBezTo>
                    <a:lnTo>
                      <a:pt x="222250" y="21225"/>
                    </a:lnTo>
                    <a:cubicBezTo>
                      <a:pt x="151605" y="53146"/>
                      <a:pt x="70645" y="53146"/>
                      <a:pt x="0" y="21225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27125" y="2146570"/>
                <a:ext cx="222250" cy="53146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53146">
                    <a:moveTo>
                      <a:pt x="0" y="21225"/>
                    </a:moveTo>
                    <a:lnTo>
                      <a:pt x="0" y="0"/>
                    </a:lnTo>
                    <a:cubicBezTo>
                      <a:pt x="70645" y="31921"/>
                      <a:pt x="151605" y="31921"/>
                      <a:pt x="222250" y="0"/>
                    </a:cubicBezTo>
                    <a:lnTo>
                      <a:pt x="222250" y="21225"/>
                    </a:lnTo>
                    <a:cubicBezTo>
                      <a:pt x="151605" y="53146"/>
                      <a:pt x="70645" y="53146"/>
                      <a:pt x="0" y="21225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548765" y="17106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硬件开发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58290" y="2029778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Embedded Systems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2590800"/>
              <a:ext cx="76200" cy="76200"/>
            </a:xfrm>
            <a:prstGeom prst="ellipse">
              <a:avLst/>
            </a:prstGeom>
            <a:solidFill>
              <a:srgbClr val="1565C0">
                <a:alpha val="6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7260" y="2556510"/>
              <a:ext cx="28959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熟悉 ESP32 系列硬件架构与开发流程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23900" y="2971800"/>
              <a:ext cx="76200" cy="76200"/>
            </a:xfrm>
            <a:prstGeom prst="ellipse">
              <a:avLst/>
            </a:prstGeom>
            <a:solidFill>
              <a:srgbClr val="1565C0">
                <a:alpha val="6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7260" y="293751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熟悉树莓派裸机开发和项目部署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23900" y="3352800"/>
              <a:ext cx="76200" cy="76200"/>
            </a:xfrm>
            <a:prstGeom prst="ellipse">
              <a:avLst/>
            </a:prstGeom>
            <a:solidFill>
              <a:srgbClr val="1565C0">
                <a:alpha val="6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7260" y="3318510"/>
              <a:ext cx="25542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UART/SPI/I²C 通信搭建实战经验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24575" y="1333500"/>
            <a:ext cx="5495925" cy="2667000"/>
            <a:chOff x="6124575" y="1333500"/>
            <a:chExt cx="5495925" cy="2667000"/>
          </a:xfrm>
        </p:grpSpPr>
        <p:sp>
          <p:nvSpPr>
            <p:cNvPr id="25" name="Freeform 25"/>
            <p:cNvSpPr/>
            <p:nvPr/>
          </p:nvSpPr>
          <p:spPr>
            <a:xfrm>
              <a:off x="6124575" y="1333500"/>
              <a:ext cx="5495925" cy="2667000"/>
            </a:xfrm>
            <a:custGeom>
              <a:avLst/>
              <a:gdLst/>
              <a:ahLst/>
              <a:cxnLst/>
              <a:rect l="l" t="t" r="r" b="b"/>
              <a:pathLst>
                <a:path w="5495925" h="2667000">
                  <a:moveTo>
                    <a:pt x="152400" y="0"/>
                  </a:moveTo>
                  <a:lnTo>
                    <a:pt x="5343525" y="0"/>
                  </a:lnTo>
                  <a:cubicBezTo>
                    <a:pt x="5427693" y="0"/>
                    <a:pt x="5495925" y="68232"/>
                    <a:pt x="5495925" y="152400"/>
                  </a:cubicBezTo>
                  <a:lnTo>
                    <a:pt x="5495925" y="2514600"/>
                  </a:lnTo>
                  <a:cubicBezTo>
                    <a:pt x="5495925" y="2598768"/>
                    <a:pt x="5427693" y="2667000"/>
                    <a:pt x="5343525" y="2667000"/>
                  </a:cubicBezTo>
                  <a:lnTo>
                    <a:pt x="152400" y="2667000"/>
                  </a:lnTo>
                  <a:cubicBezTo>
                    <a:pt x="68232" y="2667000"/>
                    <a:pt x="0" y="2598768"/>
                    <a:pt x="0" y="251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124575" y="1333500"/>
              <a:ext cx="57150" cy="2667000"/>
            </a:xfrm>
            <a:custGeom>
              <a:avLst/>
              <a:gdLst/>
              <a:ahLst/>
              <a:cxnLst/>
              <a:rect l="l" t="t" r="r" b="b"/>
              <a:pathLst>
                <a:path w="57150" h="26670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638425"/>
                  </a:lnTo>
                  <a:cubicBezTo>
                    <a:pt x="57150" y="2654207"/>
                    <a:pt x="44357" y="2667000"/>
                    <a:pt x="28575" y="2667000"/>
                  </a:cubicBezTo>
                  <a:lnTo>
                    <a:pt x="28575" y="2667000"/>
                  </a:lnTo>
                  <a:cubicBezTo>
                    <a:pt x="12793" y="2667000"/>
                    <a:pt x="0" y="2654207"/>
                    <a:pt x="0" y="2638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67475" y="1619250"/>
              <a:ext cx="571500" cy="571500"/>
            </a:xfrm>
            <a:prstGeom prst="roundRect">
              <a:avLst>
                <a:gd name="adj" fmla="val 23333"/>
              </a:avLst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842975" y="1969485"/>
              <a:ext cx="201357" cy="252029"/>
              <a:chOff x="6842975" y="1969485"/>
              <a:chExt cx="201357" cy="25202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911975" y="20955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842975" y="1969485"/>
                <a:ext cx="100750" cy="129380"/>
              </a:xfrm>
              <a:custGeom>
                <a:avLst/>
                <a:gdLst/>
                <a:ahLst/>
                <a:cxnLst/>
                <a:rect l="l" t="t" r="r" b="b"/>
                <a:pathLst>
                  <a:path w="100750" h="129380">
                    <a:moveTo>
                      <a:pt x="100750" y="126015"/>
                    </a:moveTo>
                    <a:lnTo>
                      <a:pt x="51696" y="59149"/>
                    </a:lnTo>
                    <a:cubicBezTo>
                      <a:pt x="63569" y="50821"/>
                      <a:pt x="68290" y="35506"/>
                      <a:pt x="63166" y="21938"/>
                    </a:cubicBezTo>
                    <a:cubicBezTo>
                      <a:pt x="58042" y="8371"/>
                      <a:pt x="44375" y="0"/>
                      <a:pt x="29961" y="1600"/>
                    </a:cubicBezTo>
                    <a:cubicBezTo>
                      <a:pt x="15547" y="3200"/>
                      <a:pt x="4048" y="14364"/>
                      <a:pt x="2024" y="28725"/>
                    </a:cubicBezTo>
                    <a:cubicBezTo>
                      <a:pt x="0" y="43086"/>
                      <a:pt x="7964" y="56993"/>
                      <a:pt x="21375" y="62515"/>
                    </a:cubicBezTo>
                    <a:lnTo>
                      <a:pt x="70428" y="129380"/>
                    </a:ln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43582" y="2092134"/>
                <a:ext cx="100750" cy="129380"/>
              </a:xfrm>
              <a:custGeom>
                <a:avLst/>
                <a:gdLst/>
                <a:ahLst/>
                <a:cxnLst/>
                <a:rect l="l" t="t" r="r" b="b"/>
                <a:pathLst>
                  <a:path w="100750" h="129380">
                    <a:moveTo>
                      <a:pt x="0" y="3365"/>
                    </a:moveTo>
                    <a:lnTo>
                      <a:pt x="49054" y="70231"/>
                    </a:lnTo>
                    <a:cubicBezTo>
                      <a:pt x="37181" y="78559"/>
                      <a:pt x="32460" y="93874"/>
                      <a:pt x="37584" y="107442"/>
                    </a:cubicBezTo>
                    <a:cubicBezTo>
                      <a:pt x="42708" y="121009"/>
                      <a:pt x="56374" y="129380"/>
                      <a:pt x="70789" y="127780"/>
                    </a:cubicBezTo>
                    <a:cubicBezTo>
                      <a:pt x="85203" y="126180"/>
                      <a:pt x="96701" y="115016"/>
                      <a:pt x="98725" y="100656"/>
                    </a:cubicBezTo>
                    <a:cubicBezTo>
                      <a:pt x="100750" y="86295"/>
                      <a:pt x="92785" y="72387"/>
                      <a:pt x="79375" y="66866"/>
                    </a:cubicBezTo>
                    <a:lnTo>
                      <a:pt x="30321" y="0"/>
                    </a:ln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254240" y="17106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编程语言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63765" y="2029778"/>
              <a:ext cx="9774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Programming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29375" y="2590800"/>
              <a:ext cx="76200" cy="76200"/>
            </a:xfrm>
            <a:prstGeom prst="ellipse">
              <a:avLst/>
            </a:prstGeom>
            <a:solidFill>
              <a:srgbClr val="1565C0">
                <a:alpha val="6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42735" y="2556510"/>
              <a:ext cx="35181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掌握 Python 编程，熟悉数据处理与模型训练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29375" y="2971800"/>
              <a:ext cx="76200" cy="76200"/>
            </a:xfrm>
            <a:prstGeom prst="ellipse">
              <a:avLst/>
            </a:prstGeom>
            <a:solidFill>
              <a:srgbClr val="1565C0">
                <a:alpha val="6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42735" y="2937510"/>
              <a:ext cx="32289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掌握 C++ 编程，具备良好数学与编程基础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29375" y="3352800"/>
              <a:ext cx="76200" cy="76200"/>
            </a:xfrm>
            <a:prstGeom prst="ellipse">
              <a:avLst/>
            </a:prstGeom>
            <a:solidFill>
              <a:srgbClr val="1565C0">
                <a:alpha val="6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42735" y="331851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能够独立完成小型课程项目开发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19100" y="4286250"/>
            <a:ext cx="5495925" cy="1771650"/>
            <a:chOff x="419100" y="4286250"/>
            <a:chExt cx="5495925" cy="1771650"/>
          </a:xfrm>
        </p:grpSpPr>
        <p:sp>
          <p:nvSpPr>
            <p:cNvPr id="41" name="Freeform 41"/>
            <p:cNvSpPr/>
            <p:nvPr/>
          </p:nvSpPr>
          <p:spPr>
            <a:xfrm>
              <a:off x="419100" y="4286250"/>
              <a:ext cx="5495925" cy="1771650"/>
            </a:xfrm>
            <a:custGeom>
              <a:avLst/>
              <a:gdLst/>
              <a:ahLst/>
              <a:cxnLst/>
              <a:rect l="l" t="t" r="r" b="b"/>
              <a:pathLst>
                <a:path w="5495925" h="1771650">
                  <a:moveTo>
                    <a:pt x="152400" y="0"/>
                  </a:moveTo>
                  <a:lnTo>
                    <a:pt x="5343525" y="0"/>
                  </a:lnTo>
                  <a:cubicBezTo>
                    <a:pt x="5427693" y="0"/>
                    <a:pt x="5495925" y="68232"/>
                    <a:pt x="5495925" y="152400"/>
                  </a:cubicBezTo>
                  <a:lnTo>
                    <a:pt x="5495925" y="1619250"/>
                  </a:lnTo>
                  <a:cubicBezTo>
                    <a:pt x="5495925" y="1703418"/>
                    <a:pt x="5427693" y="1771650"/>
                    <a:pt x="5343525" y="1771650"/>
                  </a:cubicBezTo>
                  <a:lnTo>
                    <a:pt x="152400" y="1771650"/>
                  </a:lnTo>
                  <a:cubicBezTo>
                    <a:pt x="68232" y="1771650"/>
                    <a:pt x="0" y="1703418"/>
                    <a:pt x="0" y="16192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419100" y="4286250"/>
              <a:ext cx="57150" cy="1771650"/>
            </a:xfrm>
            <a:custGeom>
              <a:avLst/>
              <a:gdLst/>
              <a:ahLst/>
              <a:cxnLst/>
              <a:rect l="l" t="t" r="r" b="b"/>
              <a:pathLst>
                <a:path w="57150" h="17716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743075"/>
                  </a:lnTo>
                  <a:cubicBezTo>
                    <a:pt x="57150" y="1758857"/>
                    <a:pt x="44357" y="1771650"/>
                    <a:pt x="28575" y="1771650"/>
                  </a:cubicBezTo>
                  <a:lnTo>
                    <a:pt x="28575" y="1771650"/>
                  </a:lnTo>
                  <a:cubicBezTo>
                    <a:pt x="12793" y="1771650"/>
                    <a:pt x="0" y="1758857"/>
                    <a:pt x="0" y="17430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2000" y="4552950"/>
              <a:ext cx="571500" cy="571500"/>
            </a:xfrm>
            <a:prstGeom prst="roundRect">
              <a:avLst>
                <a:gd name="adj" fmla="val 23333"/>
              </a:avLst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1095375" y="4868924"/>
              <a:ext cx="285830" cy="320509"/>
              <a:chOff x="1095375" y="4868924"/>
              <a:chExt cx="285830" cy="320509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95375" y="4868924"/>
                <a:ext cx="285830" cy="320509"/>
              </a:xfrm>
              <a:custGeom>
                <a:avLst/>
                <a:gdLst/>
                <a:ahLst/>
                <a:cxnLst/>
                <a:rect l="l" t="t" r="r" b="b"/>
                <a:pathLst>
                  <a:path w="285830" h="320509">
                    <a:moveTo>
                      <a:pt x="267891" y="69312"/>
                    </a:moveTo>
                    <a:cubicBezTo>
                      <a:pt x="279000" y="75630"/>
                      <a:pt x="285830" y="87457"/>
                      <a:pt x="285750" y="100237"/>
                    </a:cubicBezTo>
                    <a:lnTo>
                      <a:pt x="285750" y="215870"/>
                    </a:lnTo>
                    <a:cubicBezTo>
                      <a:pt x="285750" y="228713"/>
                      <a:pt x="278717" y="240556"/>
                      <a:pt x="267367" y="246795"/>
                    </a:cubicBezTo>
                    <a:lnTo>
                      <a:pt x="160210" y="314581"/>
                    </a:lnTo>
                    <a:cubicBezTo>
                      <a:pt x="149414" y="320509"/>
                      <a:pt x="136336" y="320509"/>
                      <a:pt x="125540" y="314581"/>
                    </a:cubicBezTo>
                    <a:lnTo>
                      <a:pt x="18383" y="246795"/>
                    </a:lnTo>
                    <a:cubicBezTo>
                      <a:pt x="7072" y="240613"/>
                      <a:pt x="26" y="228760"/>
                      <a:pt x="0" y="215870"/>
                    </a:cubicBezTo>
                    <a:lnTo>
                      <a:pt x="0" y="100221"/>
                    </a:lnTo>
                    <a:cubicBezTo>
                      <a:pt x="0" y="87378"/>
                      <a:pt x="7033" y="75551"/>
                      <a:pt x="18383" y="69312"/>
                    </a:cubicBezTo>
                    <a:lnTo>
                      <a:pt x="125540" y="6130"/>
                    </a:lnTo>
                    <a:cubicBezTo>
                      <a:pt x="136657" y="0"/>
                      <a:pt x="150141" y="0"/>
                      <a:pt x="161258" y="6130"/>
                    </a:cubicBezTo>
                    <a:lnTo>
                      <a:pt x="268415" y="69312"/>
                    </a:lnTo>
                    <a:lnTo>
                      <a:pt x="267891" y="69312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66812" y="5029200"/>
                <a:ext cx="103188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63500">
                    <a:moveTo>
                      <a:pt x="103188" y="0"/>
                    </a:moveTo>
                    <a:lnTo>
                      <a:pt x="39688" y="63500"/>
                    </a:lnTo>
                    <a:lnTo>
                      <a:pt x="0" y="23812"/>
                    </a:ln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548765" y="4682490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开发与工具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58290" y="5001578"/>
              <a:ext cx="7090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Dev Tools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23900" y="5467350"/>
              <a:ext cx="76200" cy="76200"/>
            </a:xfrm>
            <a:prstGeom prst="ellipse">
              <a:avLst/>
            </a:prstGeom>
            <a:solidFill>
              <a:srgbClr val="1565C0">
                <a:alpha val="60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7260" y="5433060"/>
              <a:ext cx="35532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熟悉 Linux、Docker 容器部署、Git 代码管理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23900" y="5772150"/>
              <a:ext cx="76200" cy="76200"/>
            </a:xfrm>
            <a:prstGeom prst="ellipse">
              <a:avLst/>
            </a:prstGeom>
            <a:solidFill>
              <a:srgbClr val="1565C0">
                <a:alpha val="6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7260" y="5737860"/>
              <a:ext cx="31062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舵机/电机代码控制，独立搭建开发环境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124575" y="4286250"/>
            <a:ext cx="5495925" cy="1771650"/>
            <a:chOff x="6124575" y="4286250"/>
            <a:chExt cx="5495925" cy="1771650"/>
          </a:xfrm>
        </p:grpSpPr>
        <p:sp>
          <p:nvSpPr>
            <p:cNvPr id="54" name="Freeform 54"/>
            <p:cNvSpPr/>
            <p:nvPr/>
          </p:nvSpPr>
          <p:spPr>
            <a:xfrm>
              <a:off x="6124575" y="4286250"/>
              <a:ext cx="5495925" cy="1771650"/>
            </a:xfrm>
            <a:custGeom>
              <a:avLst/>
              <a:gdLst/>
              <a:ahLst/>
              <a:cxnLst/>
              <a:rect l="l" t="t" r="r" b="b"/>
              <a:pathLst>
                <a:path w="5495925" h="1771650">
                  <a:moveTo>
                    <a:pt x="152400" y="0"/>
                  </a:moveTo>
                  <a:lnTo>
                    <a:pt x="5343525" y="0"/>
                  </a:lnTo>
                  <a:cubicBezTo>
                    <a:pt x="5427693" y="0"/>
                    <a:pt x="5495925" y="68232"/>
                    <a:pt x="5495925" y="152400"/>
                  </a:cubicBezTo>
                  <a:lnTo>
                    <a:pt x="5495925" y="1619250"/>
                  </a:lnTo>
                  <a:cubicBezTo>
                    <a:pt x="5495925" y="1703418"/>
                    <a:pt x="5427693" y="1771650"/>
                    <a:pt x="5343525" y="1771650"/>
                  </a:cubicBezTo>
                  <a:lnTo>
                    <a:pt x="152400" y="1771650"/>
                  </a:lnTo>
                  <a:cubicBezTo>
                    <a:pt x="68232" y="1771650"/>
                    <a:pt x="0" y="1703418"/>
                    <a:pt x="0" y="16192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6124575" y="4286250"/>
              <a:ext cx="57150" cy="1771650"/>
            </a:xfrm>
            <a:custGeom>
              <a:avLst/>
              <a:gdLst/>
              <a:ahLst/>
              <a:cxnLst/>
              <a:rect l="l" t="t" r="r" b="b"/>
              <a:pathLst>
                <a:path w="57150" h="17716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743075"/>
                  </a:lnTo>
                  <a:cubicBezTo>
                    <a:pt x="57150" y="1758857"/>
                    <a:pt x="44357" y="1771650"/>
                    <a:pt x="28575" y="1771650"/>
                  </a:cubicBezTo>
                  <a:lnTo>
                    <a:pt x="28575" y="1771650"/>
                  </a:lnTo>
                  <a:cubicBezTo>
                    <a:pt x="12793" y="1771650"/>
                    <a:pt x="0" y="1758857"/>
                    <a:pt x="0" y="17430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67475" y="4552950"/>
              <a:ext cx="571500" cy="571500"/>
            </a:xfrm>
            <a:prstGeom prst="roundRect">
              <a:avLst>
                <a:gd name="adj" fmla="val 23333"/>
              </a:avLst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769100" y="4838700"/>
              <a:ext cx="254000" cy="317500"/>
              <a:chOff x="6769100" y="4838700"/>
              <a:chExt cx="254000" cy="3175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769100" y="4965700"/>
                <a:ext cx="254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63500">
                    <a:moveTo>
                      <a:pt x="0" y="0"/>
                    </a:moveTo>
                    <a:cubicBezTo>
                      <a:pt x="0" y="35084"/>
                      <a:pt x="56864" y="63500"/>
                      <a:pt x="127000" y="63500"/>
                    </a:cubicBezTo>
                    <a:cubicBezTo>
                      <a:pt x="197136" y="63500"/>
                      <a:pt x="254000" y="35084"/>
                      <a:pt x="254000" y="0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69100" y="5029200"/>
                <a:ext cx="254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63500">
                    <a:moveTo>
                      <a:pt x="0" y="0"/>
                    </a:moveTo>
                    <a:cubicBezTo>
                      <a:pt x="0" y="35084"/>
                      <a:pt x="56864" y="63500"/>
                      <a:pt x="127000" y="63500"/>
                    </a:cubicBezTo>
                    <a:cubicBezTo>
                      <a:pt x="197136" y="63500"/>
                      <a:pt x="254000" y="35084"/>
                      <a:pt x="254000" y="0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69100" y="5092700"/>
                <a:ext cx="254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63500">
                    <a:moveTo>
                      <a:pt x="0" y="0"/>
                    </a:moveTo>
                    <a:cubicBezTo>
                      <a:pt x="0" y="35084"/>
                      <a:pt x="56864" y="63500"/>
                      <a:pt x="127000" y="63500"/>
                    </a:cubicBezTo>
                    <a:cubicBezTo>
                      <a:pt x="197136" y="63500"/>
                      <a:pt x="254000" y="35084"/>
                      <a:pt x="254000" y="0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69100" y="4838700"/>
                <a:ext cx="254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27000">
                    <a:moveTo>
                      <a:pt x="0" y="63500"/>
                    </a:moveTo>
                    <a:cubicBezTo>
                      <a:pt x="0" y="98584"/>
                      <a:pt x="56864" y="127000"/>
                      <a:pt x="127000" y="127000"/>
                    </a:cubicBezTo>
                    <a:cubicBezTo>
                      <a:pt x="197136" y="127000"/>
                      <a:pt x="254000" y="98584"/>
                      <a:pt x="254000" y="63500"/>
                    </a:cubicBezTo>
                    <a:cubicBezTo>
                      <a:pt x="254000" y="28416"/>
                      <a:pt x="197136" y="0"/>
                      <a:pt x="127000" y="0"/>
                    </a:cubicBezTo>
                    <a:cubicBezTo>
                      <a:pt x="56864" y="0"/>
                      <a:pt x="0" y="28416"/>
                      <a:pt x="0" y="63500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254240" y="46824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数据处理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63765" y="5001578"/>
              <a:ext cx="1215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Data Processing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429375" y="5467350"/>
              <a:ext cx="76200" cy="76200"/>
            </a:xfrm>
            <a:prstGeom prst="ellipse">
              <a:avLst/>
            </a:prstGeom>
            <a:solidFill>
              <a:srgbClr val="1565C0">
                <a:alpha val="60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42735" y="5433060"/>
              <a:ext cx="32026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AI 模型数据标注，SFT 监督微调数据处理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29375" y="5772150"/>
              <a:ext cx="76200" cy="76200"/>
            </a:xfrm>
            <a:prstGeom prst="ellipse">
              <a:avLst/>
            </a:prstGeom>
            <a:solidFill>
              <a:srgbClr val="1565C0">
                <a:alpha val="60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42735" y="5737860"/>
              <a:ext cx="25980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CC-Switch 接入 AI 辅助本地开发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60070" y="6570345"/>
            <a:ext cx="11071860" cy="182880"/>
            <a:chOff x="560070" y="6570345"/>
            <a:chExt cx="11071860" cy="182880"/>
          </a:xfrm>
        </p:grpSpPr>
        <p:sp>
          <p:nvSpPr>
            <p:cNvPr id="69" name="TextBox 69"/>
            <p:cNvSpPr txBox="1"/>
            <p:nvPr/>
          </p:nvSpPr>
          <p:spPr>
            <a:xfrm>
              <a:off x="11201590" y="65703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09 / 13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60070" y="65703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张锦洋 · 个人简历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0" grpId="0"/>
      <p:bldP spid="53" grpId="0"/>
      <p:bldP spid="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2381250" y="2381250"/>
            <a:ext cx="6667500" cy="6667500"/>
          </a:xfrm>
          <a:prstGeom prst="ellipse">
            <a:avLst/>
          </a:prstGeom>
          <a:solidFill>
            <a:srgbClr val="1565C0">
              <a:alpha val="3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914400"/>
              <a:ext cx="12192000" cy="3810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37210" y="260985"/>
              <a:ext cx="172478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奖项荣誉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212" y="659606"/>
              <a:ext cx="6036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Awards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1143000" y="1333500"/>
            <a:ext cx="9525" cy="4857750"/>
          </a:xfrm>
          <a:custGeom>
            <a:avLst/>
            <a:gdLst/>
            <a:ahLst/>
            <a:cxnLst/>
            <a:rect l="l" t="t" r="r" b="b"/>
            <a:pathLst>
              <a:path w="9525" h="4857750">
                <a:moveTo>
                  <a:pt x="0" y="0"/>
                </a:moveTo>
                <a:lnTo>
                  <a:pt x="0" y="485775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971550" y="1381125"/>
            <a:ext cx="10648950" cy="666750"/>
            <a:chOff x="971550" y="1381125"/>
            <a:chExt cx="10648950" cy="666750"/>
          </a:xfrm>
        </p:grpSpPr>
        <p:sp>
          <p:nvSpPr>
            <p:cNvPr id="10" name="Ellipse 10"/>
            <p:cNvSpPr/>
            <p:nvPr/>
          </p:nvSpPr>
          <p:spPr>
            <a:xfrm>
              <a:off x="1047750" y="157162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71550" y="1495425"/>
              <a:ext cx="342900" cy="3429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504950" y="1381125"/>
              <a:ext cx="10115550" cy="666750"/>
            </a:xfrm>
            <a:custGeom>
              <a:avLst/>
              <a:gdLst/>
              <a:ahLst/>
              <a:cxnLst/>
              <a:rect l="l" t="t" r="r" b="b"/>
              <a:pathLst>
                <a:path w="10115550" h="666750">
                  <a:moveTo>
                    <a:pt x="114300" y="0"/>
                  </a:moveTo>
                  <a:lnTo>
                    <a:pt x="10001250" y="0"/>
                  </a:lnTo>
                  <a:cubicBezTo>
                    <a:pt x="10064376" y="0"/>
                    <a:pt x="10115550" y="51174"/>
                    <a:pt x="10115550" y="114300"/>
                  </a:cubicBezTo>
                  <a:lnTo>
                    <a:pt x="10115550" y="552450"/>
                  </a:lnTo>
                  <a:cubicBezTo>
                    <a:pt x="10115550" y="615576"/>
                    <a:pt x="10064376" y="666750"/>
                    <a:pt x="1000125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62100" y="1381125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638175"/>
                  </a:lnTo>
                  <a:cubicBezTo>
                    <a:pt x="57150" y="653957"/>
                    <a:pt x="44357" y="666750"/>
                    <a:pt x="28575" y="666750"/>
                  </a:cubicBezTo>
                  <a:lnTo>
                    <a:pt x="28575" y="666750"/>
                  </a:lnTo>
                  <a:cubicBezTo>
                    <a:pt x="12793" y="666750"/>
                    <a:pt x="0" y="653957"/>
                    <a:pt x="0" y="638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514475" y="156210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94510" y="1518285"/>
              <a:ext cx="2542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第7届"泰迪杯"数据分析技能赛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96415" y="17726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本科及以上组 三等奖 · 2024年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71550" y="2047875"/>
            <a:ext cx="10648950" cy="666750"/>
            <a:chOff x="971550" y="2047875"/>
            <a:chExt cx="10648950" cy="666750"/>
          </a:xfrm>
        </p:grpSpPr>
        <p:sp>
          <p:nvSpPr>
            <p:cNvPr id="18" name="Ellipse 18"/>
            <p:cNvSpPr/>
            <p:nvPr/>
          </p:nvSpPr>
          <p:spPr>
            <a:xfrm>
              <a:off x="1047750" y="223837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71550" y="2162175"/>
              <a:ext cx="342900" cy="3429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504950" y="2047875"/>
              <a:ext cx="10115550" cy="666750"/>
            </a:xfrm>
            <a:custGeom>
              <a:avLst/>
              <a:gdLst/>
              <a:ahLst/>
              <a:cxnLst/>
              <a:rect l="l" t="t" r="r" b="b"/>
              <a:pathLst>
                <a:path w="10115550" h="666750">
                  <a:moveTo>
                    <a:pt x="114300" y="0"/>
                  </a:moveTo>
                  <a:lnTo>
                    <a:pt x="10001250" y="0"/>
                  </a:lnTo>
                  <a:cubicBezTo>
                    <a:pt x="10064376" y="0"/>
                    <a:pt x="10115550" y="51174"/>
                    <a:pt x="10115550" y="114300"/>
                  </a:cubicBezTo>
                  <a:lnTo>
                    <a:pt x="10115550" y="552450"/>
                  </a:lnTo>
                  <a:cubicBezTo>
                    <a:pt x="10115550" y="615576"/>
                    <a:pt x="10064376" y="666750"/>
                    <a:pt x="1000125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562100" y="2047875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638175"/>
                  </a:lnTo>
                  <a:cubicBezTo>
                    <a:pt x="57150" y="653957"/>
                    <a:pt x="44357" y="666750"/>
                    <a:pt x="28575" y="666750"/>
                  </a:cubicBezTo>
                  <a:lnTo>
                    <a:pt x="28575" y="666750"/>
                  </a:lnTo>
                  <a:cubicBezTo>
                    <a:pt x="12793" y="666750"/>
                    <a:pt x="0" y="653957"/>
                    <a:pt x="0" y="638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514475" y="222885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94510" y="2185035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睿抗机器人开发者大赛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4191000" y="2162175"/>
              <a:ext cx="1066800" cy="190500"/>
            </a:xfrm>
            <a:custGeom>
              <a:avLst/>
              <a:gdLst/>
              <a:ahLst/>
              <a:cxnLst/>
              <a:rect l="l" t="t" r="r" b="b"/>
              <a:pathLst>
                <a:path w="1066800" h="19050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95250"/>
                  </a:lnTo>
                  <a:cubicBezTo>
                    <a:pt x="1066800" y="147855"/>
                    <a:pt x="1024155" y="190500"/>
                    <a:pt x="9715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367927" y="22078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国家二等奖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96415" y="2439352"/>
              <a:ext cx="5173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2024年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71550" y="2714625"/>
            <a:ext cx="10648950" cy="666750"/>
            <a:chOff x="971550" y="2714625"/>
            <a:chExt cx="10648950" cy="666750"/>
          </a:xfrm>
        </p:grpSpPr>
        <p:sp>
          <p:nvSpPr>
            <p:cNvPr id="28" name="Ellipse 28"/>
            <p:cNvSpPr/>
            <p:nvPr/>
          </p:nvSpPr>
          <p:spPr>
            <a:xfrm>
              <a:off x="1047750" y="290512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71550" y="2828925"/>
              <a:ext cx="342900" cy="3429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504950" y="2714625"/>
              <a:ext cx="10115550" cy="666750"/>
            </a:xfrm>
            <a:custGeom>
              <a:avLst/>
              <a:gdLst/>
              <a:ahLst/>
              <a:cxnLst/>
              <a:rect l="l" t="t" r="r" b="b"/>
              <a:pathLst>
                <a:path w="10115550" h="666750">
                  <a:moveTo>
                    <a:pt x="114300" y="0"/>
                  </a:moveTo>
                  <a:lnTo>
                    <a:pt x="10001250" y="0"/>
                  </a:lnTo>
                  <a:cubicBezTo>
                    <a:pt x="10064376" y="0"/>
                    <a:pt x="10115550" y="51174"/>
                    <a:pt x="10115550" y="114300"/>
                  </a:cubicBezTo>
                  <a:lnTo>
                    <a:pt x="10115550" y="552450"/>
                  </a:lnTo>
                  <a:cubicBezTo>
                    <a:pt x="10115550" y="615576"/>
                    <a:pt x="10064376" y="666750"/>
                    <a:pt x="1000125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562100" y="2714625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638175"/>
                  </a:lnTo>
                  <a:cubicBezTo>
                    <a:pt x="57150" y="653957"/>
                    <a:pt x="44357" y="666750"/>
                    <a:pt x="28575" y="666750"/>
                  </a:cubicBezTo>
                  <a:lnTo>
                    <a:pt x="28575" y="666750"/>
                  </a:lnTo>
                  <a:cubicBezTo>
                    <a:pt x="12793" y="666750"/>
                    <a:pt x="0" y="653957"/>
                    <a:pt x="0" y="638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514475" y="289560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794510" y="2851785"/>
              <a:ext cx="3848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第十四届 APMCM 亚太地区大学生数学建模竞赛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96415" y="31061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参与奖 · 2024年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1550" y="3381375"/>
            <a:ext cx="10648950" cy="666750"/>
            <a:chOff x="971550" y="3381375"/>
            <a:chExt cx="10648950" cy="666750"/>
          </a:xfrm>
        </p:grpSpPr>
        <p:sp>
          <p:nvSpPr>
            <p:cNvPr id="36" name="Ellipse 36"/>
            <p:cNvSpPr/>
            <p:nvPr/>
          </p:nvSpPr>
          <p:spPr>
            <a:xfrm>
              <a:off x="1047750" y="357187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71550" y="3495675"/>
              <a:ext cx="342900" cy="3429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504950" y="3381375"/>
              <a:ext cx="10115550" cy="666750"/>
            </a:xfrm>
            <a:custGeom>
              <a:avLst/>
              <a:gdLst/>
              <a:ahLst/>
              <a:cxnLst/>
              <a:rect l="l" t="t" r="r" b="b"/>
              <a:pathLst>
                <a:path w="10115550" h="666750">
                  <a:moveTo>
                    <a:pt x="114300" y="0"/>
                  </a:moveTo>
                  <a:lnTo>
                    <a:pt x="10001250" y="0"/>
                  </a:lnTo>
                  <a:cubicBezTo>
                    <a:pt x="10064376" y="0"/>
                    <a:pt x="10115550" y="51174"/>
                    <a:pt x="10115550" y="114300"/>
                  </a:cubicBezTo>
                  <a:lnTo>
                    <a:pt x="10115550" y="552450"/>
                  </a:lnTo>
                  <a:cubicBezTo>
                    <a:pt x="10115550" y="615576"/>
                    <a:pt x="10064376" y="666750"/>
                    <a:pt x="1000125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562100" y="3381375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638175"/>
                  </a:lnTo>
                  <a:cubicBezTo>
                    <a:pt x="57150" y="653957"/>
                    <a:pt x="44357" y="666750"/>
                    <a:pt x="28575" y="666750"/>
                  </a:cubicBezTo>
                  <a:lnTo>
                    <a:pt x="28575" y="666750"/>
                  </a:lnTo>
                  <a:cubicBezTo>
                    <a:pt x="12793" y="666750"/>
                    <a:pt x="0" y="653957"/>
                    <a:pt x="0" y="638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514475" y="356235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794510" y="3518535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蓝桥杯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96415" y="3772852"/>
              <a:ext cx="1460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省级三等奖 · 2024年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71550" y="4048125"/>
            <a:ext cx="10648950" cy="666750"/>
            <a:chOff x="971550" y="4048125"/>
            <a:chExt cx="10648950" cy="666750"/>
          </a:xfrm>
        </p:grpSpPr>
        <p:sp>
          <p:nvSpPr>
            <p:cNvPr id="44" name="Ellipse 44"/>
            <p:cNvSpPr/>
            <p:nvPr/>
          </p:nvSpPr>
          <p:spPr>
            <a:xfrm>
              <a:off x="1047750" y="423862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71550" y="4162425"/>
              <a:ext cx="342900" cy="3429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504950" y="4048125"/>
              <a:ext cx="10115550" cy="666750"/>
            </a:xfrm>
            <a:custGeom>
              <a:avLst/>
              <a:gdLst/>
              <a:ahLst/>
              <a:cxnLst/>
              <a:rect l="l" t="t" r="r" b="b"/>
              <a:pathLst>
                <a:path w="10115550" h="666750">
                  <a:moveTo>
                    <a:pt x="114300" y="0"/>
                  </a:moveTo>
                  <a:lnTo>
                    <a:pt x="10001250" y="0"/>
                  </a:lnTo>
                  <a:cubicBezTo>
                    <a:pt x="10064376" y="0"/>
                    <a:pt x="10115550" y="51174"/>
                    <a:pt x="10115550" y="114300"/>
                  </a:cubicBezTo>
                  <a:lnTo>
                    <a:pt x="10115550" y="552450"/>
                  </a:lnTo>
                  <a:cubicBezTo>
                    <a:pt x="10115550" y="615576"/>
                    <a:pt x="10064376" y="666750"/>
                    <a:pt x="1000125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562100" y="4048125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638175"/>
                  </a:lnTo>
                  <a:cubicBezTo>
                    <a:pt x="57150" y="653957"/>
                    <a:pt x="44357" y="666750"/>
                    <a:pt x="28575" y="666750"/>
                  </a:cubicBezTo>
                  <a:lnTo>
                    <a:pt x="28575" y="666750"/>
                  </a:lnTo>
                  <a:cubicBezTo>
                    <a:pt x="12793" y="666750"/>
                    <a:pt x="0" y="653957"/>
                    <a:pt x="0" y="638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514475" y="422910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794510" y="4185285"/>
              <a:ext cx="28920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第6届广西大学生人工智能设计大赛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796415" y="443960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三等奖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71550" y="4714875"/>
            <a:ext cx="10648950" cy="666750"/>
            <a:chOff x="971550" y="4714875"/>
            <a:chExt cx="10648950" cy="666750"/>
          </a:xfrm>
        </p:grpSpPr>
        <p:sp>
          <p:nvSpPr>
            <p:cNvPr id="52" name="Ellipse 52"/>
            <p:cNvSpPr/>
            <p:nvPr/>
          </p:nvSpPr>
          <p:spPr>
            <a:xfrm>
              <a:off x="1047750" y="490537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971550" y="4829175"/>
              <a:ext cx="342900" cy="3429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1504950" y="4714875"/>
              <a:ext cx="10115550" cy="666750"/>
            </a:xfrm>
            <a:custGeom>
              <a:avLst/>
              <a:gdLst/>
              <a:ahLst/>
              <a:cxnLst/>
              <a:rect l="l" t="t" r="r" b="b"/>
              <a:pathLst>
                <a:path w="10115550" h="666750">
                  <a:moveTo>
                    <a:pt x="114300" y="0"/>
                  </a:moveTo>
                  <a:lnTo>
                    <a:pt x="10001250" y="0"/>
                  </a:lnTo>
                  <a:cubicBezTo>
                    <a:pt x="10064376" y="0"/>
                    <a:pt x="10115550" y="51174"/>
                    <a:pt x="10115550" y="114300"/>
                  </a:cubicBezTo>
                  <a:lnTo>
                    <a:pt x="10115550" y="552450"/>
                  </a:lnTo>
                  <a:cubicBezTo>
                    <a:pt x="10115550" y="615576"/>
                    <a:pt x="10064376" y="666750"/>
                    <a:pt x="1000125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562100" y="4714875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638175"/>
                  </a:lnTo>
                  <a:cubicBezTo>
                    <a:pt x="57150" y="653957"/>
                    <a:pt x="44357" y="666750"/>
                    <a:pt x="28575" y="666750"/>
                  </a:cubicBezTo>
                  <a:lnTo>
                    <a:pt x="28575" y="666750"/>
                  </a:lnTo>
                  <a:cubicBezTo>
                    <a:pt x="12793" y="666750"/>
                    <a:pt x="0" y="653957"/>
                    <a:pt x="0" y="638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1514475" y="489585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794510" y="4852035"/>
              <a:ext cx="28092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第26届中国机器人及人工智能大赛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4572000" y="4714875"/>
              <a:ext cx="1066800" cy="190500"/>
            </a:xfrm>
            <a:custGeom>
              <a:avLst/>
              <a:gdLst/>
              <a:ahLst/>
              <a:cxnLst/>
              <a:rect l="l" t="t" r="r" b="b"/>
              <a:pathLst>
                <a:path w="1066800" h="19050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95250"/>
                  </a:lnTo>
                  <a:cubicBezTo>
                    <a:pt x="1066800" y="147855"/>
                    <a:pt x="1024155" y="190500"/>
                    <a:pt x="9715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748927" y="47605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国家三等奖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796415" y="5106352"/>
              <a:ext cx="5173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2024年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71550" y="5381625"/>
            <a:ext cx="10648950" cy="666750"/>
            <a:chOff x="971550" y="5381625"/>
            <a:chExt cx="10648950" cy="666750"/>
          </a:xfrm>
        </p:grpSpPr>
        <p:sp>
          <p:nvSpPr>
            <p:cNvPr id="62" name="Ellipse 62"/>
            <p:cNvSpPr/>
            <p:nvPr/>
          </p:nvSpPr>
          <p:spPr>
            <a:xfrm>
              <a:off x="1047750" y="557212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971550" y="5495925"/>
              <a:ext cx="342900" cy="3429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1504950" y="5381625"/>
              <a:ext cx="10115550" cy="666750"/>
            </a:xfrm>
            <a:custGeom>
              <a:avLst/>
              <a:gdLst/>
              <a:ahLst/>
              <a:cxnLst/>
              <a:rect l="l" t="t" r="r" b="b"/>
              <a:pathLst>
                <a:path w="10115550" h="666750">
                  <a:moveTo>
                    <a:pt x="114300" y="0"/>
                  </a:moveTo>
                  <a:lnTo>
                    <a:pt x="10001250" y="0"/>
                  </a:lnTo>
                  <a:cubicBezTo>
                    <a:pt x="10064376" y="0"/>
                    <a:pt x="10115550" y="51174"/>
                    <a:pt x="10115550" y="114300"/>
                  </a:cubicBezTo>
                  <a:lnTo>
                    <a:pt x="10115550" y="552450"/>
                  </a:lnTo>
                  <a:cubicBezTo>
                    <a:pt x="10115550" y="615576"/>
                    <a:pt x="10064376" y="666750"/>
                    <a:pt x="1000125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1562100" y="5381625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638175"/>
                  </a:lnTo>
                  <a:cubicBezTo>
                    <a:pt x="57150" y="653957"/>
                    <a:pt x="44357" y="666750"/>
                    <a:pt x="28575" y="666750"/>
                  </a:cubicBezTo>
                  <a:lnTo>
                    <a:pt x="28575" y="666750"/>
                  </a:lnTo>
                  <a:cubicBezTo>
                    <a:pt x="12793" y="666750"/>
                    <a:pt x="0" y="653957"/>
                    <a:pt x="0" y="638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1514475" y="556260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794510" y="5518785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蓝桥杯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796415" y="5773102"/>
              <a:ext cx="1460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省级二等奖 · 2025年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60070" y="6570345"/>
            <a:ext cx="11071860" cy="182880"/>
            <a:chOff x="560070" y="6570345"/>
            <a:chExt cx="11071860" cy="182880"/>
          </a:xfrm>
        </p:grpSpPr>
        <p:sp>
          <p:nvSpPr>
            <p:cNvPr id="70" name="TextBox 70"/>
            <p:cNvSpPr txBox="1"/>
            <p:nvPr/>
          </p:nvSpPr>
          <p:spPr>
            <a:xfrm>
              <a:off x="11234452" y="657034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10 / 13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60070" y="65703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张锦洋 · 个人简历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  <p:bldP spid="35" grpId="0"/>
      <p:bldP spid="43" grpId="0"/>
      <p:bldP spid="51" grpId="0"/>
      <p:bldP spid="61" grpId="0"/>
      <p:bldP spid="6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0" y="-2381250"/>
            <a:ext cx="6667500" cy="6667500"/>
          </a:xfrm>
          <a:prstGeom prst="ellipse">
            <a:avLst/>
          </a:prstGeom>
          <a:solidFill>
            <a:srgbClr val="1565C0">
              <a:alpha val="3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914400"/>
              <a:ext cx="12192000" cy="3810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37210" y="260985"/>
              <a:ext cx="296694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奖项荣誉（续）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212" y="659606"/>
              <a:ext cx="14251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Awards Continued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1143000" y="1333500"/>
            <a:ext cx="9525" cy="4857750"/>
          </a:xfrm>
          <a:custGeom>
            <a:avLst/>
            <a:gdLst/>
            <a:ahLst/>
            <a:cxnLst/>
            <a:rect l="l" t="t" r="r" b="b"/>
            <a:pathLst>
              <a:path w="9525" h="4857750">
                <a:moveTo>
                  <a:pt x="0" y="0"/>
                </a:moveTo>
                <a:lnTo>
                  <a:pt x="0" y="485775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971550" y="1381125"/>
            <a:ext cx="10648950" cy="666750"/>
            <a:chOff x="971550" y="1381125"/>
            <a:chExt cx="10648950" cy="666750"/>
          </a:xfrm>
        </p:grpSpPr>
        <p:sp>
          <p:nvSpPr>
            <p:cNvPr id="10" name="Ellipse 10"/>
            <p:cNvSpPr/>
            <p:nvPr/>
          </p:nvSpPr>
          <p:spPr>
            <a:xfrm>
              <a:off x="1047750" y="157162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71550" y="1495425"/>
              <a:ext cx="342900" cy="3429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504950" y="1381125"/>
              <a:ext cx="10115550" cy="666750"/>
            </a:xfrm>
            <a:custGeom>
              <a:avLst/>
              <a:gdLst/>
              <a:ahLst/>
              <a:cxnLst/>
              <a:rect l="l" t="t" r="r" b="b"/>
              <a:pathLst>
                <a:path w="10115550" h="666750">
                  <a:moveTo>
                    <a:pt x="114300" y="0"/>
                  </a:moveTo>
                  <a:lnTo>
                    <a:pt x="10001250" y="0"/>
                  </a:lnTo>
                  <a:cubicBezTo>
                    <a:pt x="10064376" y="0"/>
                    <a:pt x="10115550" y="51174"/>
                    <a:pt x="10115550" y="114300"/>
                  </a:cubicBezTo>
                  <a:lnTo>
                    <a:pt x="10115550" y="552450"/>
                  </a:lnTo>
                  <a:cubicBezTo>
                    <a:pt x="10115550" y="615576"/>
                    <a:pt x="10064376" y="666750"/>
                    <a:pt x="1000125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62100" y="1381125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638175"/>
                  </a:lnTo>
                  <a:cubicBezTo>
                    <a:pt x="57150" y="653957"/>
                    <a:pt x="44357" y="666750"/>
                    <a:pt x="28575" y="666750"/>
                  </a:cubicBezTo>
                  <a:lnTo>
                    <a:pt x="28575" y="666750"/>
                  </a:lnTo>
                  <a:cubicBezTo>
                    <a:pt x="12793" y="666750"/>
                    <a:pt x="0" y="653957"/>
                    <a:pt x="0" y="638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514475" y="156210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94510" y="1518285"/>
              <a:ext cx="28092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中国国际大学生创新大赛"建行杯"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4572000" y="1476375"/>
              <a:ext cx="1066800" cy="190500"/>
            </a:xfrm>
            <a:custGeom>
              <a:avLst/>
              <a:gdLst/>
              <a:ahLst/>
              <a:cxnLst/>
              <a:rect l="l" t="t" r="r" b="b"/>
              <a:pathLst>
                <a:path w="1066800" h="19050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95250"/>
                  </a:lnTo>
                  <a:cubicBezTo>
                    <a:pt x="1066800" y="147855"/>
                    <a:pt x="1024155" y="190500"/>
                    <a:pt x="9715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3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17936" y="152209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65100"/>
                  </a:solidFill>
                  <a:latin typeface="Arial"/>
                  <a:ea typeface="Microsoft YaHei"/>
                  <a:cs typeface="Arial"/>
                </a:rPr>
                <a:t>广西银奖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96415" y="1772602"/>
              <a:ext cx="17672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广西赛区选拔赛 · 2025年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1550" y="2047875"/>
            <a:ext cx="10648950" cy="666750"/>
            <a:chOff x="971550" y="2047875"/>
            <a:chExt cx="10648950" cy="666750"/>
          </a:xfrm>
        </p:grpSpPr>
        <p:sp>
          <p:nvSpPr>
            <p:cNvPr id="20" name="Ellipse 20"/>
            <p:cNvSpPr/>
            <p:nvPr/>
          </p:nvSpPr>
          <p:spPr>
            <a:xfrm>
              <a:off x="1047750" y="223837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71550" y="2162175"/>
              <a:ext cx="342900" cy="3429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504950" y="2047875"/>
              <a:ext cx="10115550" cy="666750"/>
            </a:xfrm>
            <a:custGeom>
              <a:avLst/>
              <a:gdLst/>
              <a:ahLst/>
              <a:cxnLst/>
              <a:rect l="l" t="t" r="r" b="b"/>
              <a:pathLst>
                <a:path w="10115550" h="666750">
                  <a:moveTo>
                    <a:pt x="114300" y="0"/>
                  </a:moveTo>
                  <a:lnTo>
                    <a:pt x="10001250" y="0"/>
                  </a:lnTo>
                  <a:cubicBezTo>
                    <a:pt x="10064376" y="0"/>
                    <a:pt x="10115550" y="51174"/>
                    <a:pt x="10115550" y="114300"/>
                  </a:cubicBezTo>
                  <a:lnTo>
                    <a:pt x="10115550" y="552450"/>
                  </a:lnTo>
                  <a:cubicBezTo>
                    <a:pt x="10115550" y="615576"/>
                    <a:pt x="10064376" y="666750"/>
                    <a:pt x="1000125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562100" y="2047875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638175"/>
                  </a:lnTo>
                  <a:cubicBezTo>
                    <a:pt x="57150" y="653957"/>
                    <a:pt x="44357" y="666750"/>
                    <a:pt x="28575" y="666750"/>
                  </a:cubicBezTo>
                  <a:lnTo>
                    <a:pt x="28575" y="666750"/>
                  </a:lnTo>
                  <a:cubicBezTo>
                    <a:pt x="12793" y="666750"/>
                    <a:pt x="0" y="653957"/>
                    <a:pt x="0" y="638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514475" y="222885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794510" y="2185035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睿抗机器人开发者大赛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4191000" y="2143125"/>
              <a:ext cx="1066800" cy="190500"/>
            </a:xfrm>
            <a:custGeom>
              <a:avLst/>
              <a:gdLst/>
              <a:ahLst/>
              <a:cxnLst/>
              <a:rect l="l" t="t" r="r" b="b"/>
              <a:pathLst>
                <a:path w="1066800" h="19050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95250"/>
                  </a:lnTo>
                  <a:cubicBezTo>
                    <a:pt x="1066800" y="147855"/>
                    <a:pt x="1024155" y="190500"/>
                    <a:pt x="9715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67927" y="21888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省级三等奖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96415" y="2439352"/>
              <a:ext cx="5173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2025年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71550" y="2714625"/>
            <a:ext cx="10648950" cy="666750"/>
            <a:chOff x="971550" y="2714625"/>
            <a:chExt cx="10648950" cy="666750"/>
          </a:xfrm>
        </p:grpSpPr>
        <p:sp>
          <p:nvSpPr>
            <p:cNvPr id="30" name="Ellipse 30"/>
            <p:cNvSpPr/>
            <p:nvPr/>
          </p:nvSpPr>
          <p:spPr>
            <a:xfrm>
              <a:off x="1047750" y="290512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71550" y="2828925"/>
              <a:ext cx="342900" cy="3429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504950" y="2714625"/>
              <a:ext cx="10115550" cy="666750"/>
            </a:xfrm>
            <a:custGeom>
              <a:avLst/>
              <a:gdLst/>
              <a:ahLst/>
              <a:cxnLst/>
              <a:rect l="l" t="t" r="r" b="b"/>
              <a:pathLst>
                <a:path w="10115550" h="666750">
                  <a:moveTo>
                    <a:pt x="114300" y="0"/>
                  </a:moveTo>
                  <a:lnTo>
                    <a:pt x="10001250" y="0"/>
                  </a:lnTo>
                  <a:cubicBezTo>
                    <a:pt x="10064376" y="0"/>
                    <a:pt x="10115550" y="51174"/>
                    <a:pt x="10115550" y="114300"/>
                  </a:cubicBezTo>
                  <a:lnTo>
                    <a:pt x="10115550" y="552450"/>
                  </a:lnTo>
                  <a:cubicBezTo>
                    <a:pt x="10115550" y="615576"/>
                    <a:pt x="10064376" y="666750"/>
                    <a:pt x="1000125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562100" y="2714625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638175"/>
                  </a:lnTo>
                  <a:cubicBezTo>
                    <a:pt x="57150" y="653957"/>
                    <a:pt x="44357" y="666750"/>
                    <a:pt x="28575" y="666750"/>
                  </a:cubicBezTo>
                  <a:lnTo>
                    <a:pt x="28575" y="666750"/>
                  </a:lnTo>
                  <a:cubicBezTo>
                    <a:pt x="12793" y="666750"/>
                    <a:pt x="0" y="653957"/>
                    <a:pt x="0" y="638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514475" y="289560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94510" y="2851785"/>
              <a:ext cx="28092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第27届中国机器人及人工智能大赛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4572000" y="2809875"/>
              <a:ext cx="1066800" cy="190500"/>
            </a:xfrm>
            <a:custGeom>
              <a:avLst/>
              <a:gdLst/>
              <a:ahLst/>
              <a:cxnLst/>
              <a:rect l="l" t="t" r="r" b="b"/>
              <a:pathLst>
                <a:path w="1066800" h="19050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95250"/>
                  </a:lnTo>
                  <a:cubicBezTo>
                    <a:pt x="1066800" y="147855"/>
                    <a:pt x="1024155" y="190500"/>
                    <a:pt x="9715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48927" y="28555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国家优秀奖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96415" y="3106102"/>
              <a:ext cx="5173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2025年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71550" y="3381375"/>
            <a:ext cx="10648950" cy="666750"/>
            <a:chOff x="971550" y="3381375"/>
            <a:chExt cx="10648950" cy="666750"/>
          </a:xfrm>
        </p:grpSpPr>
        <p:sp>
          <p:nvSpPr>
            <p:cNvPr id="40" name="Ellipse 40"/>
            <p:cNvSpPr/>
            <p:nvPr/>
          </p:nvSpPr>
          <p:spPr>
            <a:xfrm>
              <a:off x="1047750" y="357187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71550" y="3495675"/>
              <a:ext cx="342900" cy="3429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504950" y="3381375"/>
              <a:ext cx="10115550" cy="666750"/>
            </a:xfrm>
            <a:custGeom>
              <a:avLst/>
              <a:gdLst/>
              <a:ahLst/>
              <a:cxnLst/>
              <a:rect l="l" t="t" r="r" b="b"/>
              <a:pathLst>
                <a:path w="10115550" h="666750">
                  <a:moveTo>
                    <a:pt x="114300" y="0"/>
                  </a:moveTo>
                  <a:lnTo>
                    <a:pt x="10001250" y="0"/>
                  </a:lnTo>
                  <a:cubicBezTo>
                    <a:pt x="10064376" y="0"/>
                    <a:pt x="10115550" y="51174"/>
                    <a:pt x="10115550" y="114300"/>
                  </a:cubicBezTo>
                  <a:lnTo>
                    <a:pt x="10115550" y="552450"/>
                  </a:lnTo>
                  <a:cubicBezTo>
                    <a:pt x="10115550" y="615576"/>
                    <a:pt x="10064376" y="666750"/>
                    <a:pt x="1000125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562100" y="3381375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638175"/>
                  </a:lnTo>
                  <a:cubicBezTo>
                    <a:pt x="57150" y="653957"/>
                    <a:pt x="44357" y="666750"/>
                    <a:pt x="28575" y="666750"/>
                  </a:cubicBezTo>
                  <a:lnTo>
                    <a:pt x="28575" y="666750"/>
                  </a:lnTo>
                  <a:cubicBezTo>
                    <a:pt x="12793" y="666750"/>
                    <a:pt x="0" y="653957"/>
                    <a:pt x="0" y="638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514475" y="356235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794510" y="3518535"/>
              <a:ext cx="23031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Robocom 马术机器人越野赛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4381500" y="3476625"/>
              <a:ext cx="1066800" cy="190500"/>
            </a:xfrm>
            <a:custGeom>
              <a:avLst/>
              <a:gdLst/>
              <a:ahLst/>
              <a:cxnLst/>
              <a:rect l="l" t="t" r="r" b="b"/>
              <a:pathLst>
                <a:path w="1066800" h="19050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95250"/>
                  </a:lnTo>
                  <a:cubicBezTo>
                    <a:pt x="1066800" y="147855"/>
                    <a:pt x="1024155" y="190500"/>
                    <a:pt x="9715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58427" y="35223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国家三等奖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96415" y="3772852"/>
              <a:ext cx="5173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2025年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71550" y="4048125"/>
            <a:ext cx="10648950" cy="666750"/>
            <a:chOff x="971550" y="4048125"/>
            <a:chExt cx="10648950" cy="666750"/>
          </a:xfrm>
        </p:grpSpPr>
        <p:sp>
          <p:nvSpPr>
            <p:cNvPr id="50" name="Ellipse 50"/>
            <p:cNvSpPr/>
            <p:nvPr/>
          </p:nvSpPr>
          <p:spPr>
            <a:xfrm>
              <a:off x="1047750" y="423862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971550" y="4162425"/>
              <a:ext cx="342900" cy="3429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504950" y="4048125"/>
              <a:ext cx="10115550" cy="666750"/>
            </a:xfrm>
            <a:custGeom>
              <a:avLst/>
              <a:gdLst/>
              <a:ahLst/>
              <a:cxnLst/>
              <a:rect l="l" t="t" r="r" b="b"/>
              <a:pathLst>
                <a:path w="10115550" h="666750">
                  <a:moveTo>
                    <a:pt x="114300" y="0"/>
                  </a:moveTo>
                  <a:lnTo>
                    <a:pt x="10001250" y="0"/>
                  </a:lnTo>
                  <a:cubicBezTo>
                    <a:pt x="10064376" y="0"/>
                    <a:pt x="10115550" y="51174"/>
                    <a:pt x="10115550" y="114300"/>
                  </a:cubicBezTo>
                  <a:lnTo>
                    <a:pt x="10115550" y="552450"/>
                  </a:lnTo>
                  <a:cubicBezTo>
                    <a:pt x="10115550" y="615576"/>
                    <a:pt x="10064376" y="666750"/>
                    <a:pt x="1000125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562100" y="4048125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638175"/>
                  </a:lnTo>
                  <a:cubicBezTo>
                    <a:pt x="57150" y="653957"/>
                    <a:pt x="44357" y="666750"/>
                    <a:pt x="28575" y="666750"/>
                  </a:cubicBezTo>
                  <a:lnTo>
                    <a:pt x="28575" y="666750"/>
                  </a:lnTo>
                  <a:cubicBezTo>
                    <a:pt x="12793" y="666750"/>
                    <a:pt x="0" y="653957"/>
                    <a:pt x="0" y="638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1514475" y="422910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794510" y="4185285"/>
              <a:ext cx="23031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Robocom 马术机器人障碍赛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4381500" y="4143375"/>
              <a:ext cx="1066800" cy="190500"/>
            </a:xfrm>
            <a:custGeom>
              <a:avLst/>
              <a:gdLst/>
              <a:ahLst/>
              <a:cxnLst/>
              <a:rect l="l" t="t" r="r" b="b"/>
              <a:pathLst>
                <a:path w="1066800" h="19050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95250"/>
                  </a:lnTo>
                  <a:cubicBezTo>
                    <a:pt x="1066800" y="147855"/>
                    <a:pt x="1024155" y="190500"/>
                    <a:pt x="9715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558427" y="41890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国家三等奖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796415" y="4439602"/>
              <a:ext cx="5173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2025年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71550" y="4714875"/>
            <a:ext cx="10648950" cy="666750"/>
            <a:chOff x="971550" y="4714875"/>
            <a:chExt cx="10648950" cy="666750"/>
          </a:xfrm>
        </p:grpSpPr>
        <p:sp>
          <p:nvSpPr>
            <p:cNvPr id="60" name="Ellipse 60"/>
            <p:cNvSpPr/>
            <p:nvPr/>
          </p:nvSpPr>
          <p:spPr>
            <a:xfrm>
              <a:off x="1047750" y="490537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971550" y="4829175"/>
              <a:ext cx="342900" cy="3429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1504950" y="4714875"/>
              <a:ext cx="10115550" cy="666750"/>
            </a:xfrm>
            <a:custGeom>
              <a:avLst/>
              <a:gdLst/>
              <a:ahLst/>
              <a:cxnLst/>
              <a:rect l="l" t="t" r="r" b="b"/>
              <a:pathLst>
                <a:path w="10115550" h="666750">
                  <a:moveTo>
                    <a:pt x="114300" y="0"/>
                  </a:moveTo>
                  <a:lnTo>
                    <a:pt x="10001250" y="0"/>
                  </a:lnTo>
                  <a:cubicBezTo>
                    <a:pt x="10064376" y="0"/>
                    <a:pt x="10115550" y="51174"/>
                    <a:pt x="10115550" y="114300"/>
                  </a:cubicBezTo>
                  <a:lnTo>
                    <a:pt x="10115550" y="552450"/>
                  </a:lnTo>
                  <a:cubicBezTo>
                    <a:pt x="10115550" y="615576"/>
                    <a:pt x="10064376" y="666750"/>
                    <a:pt x="1000125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1562100" y="4714875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638175"/>
                  </a:lnTo>
                  <a:cubicBezTo>
                    <a:pt x="57150" y="653957"/>
                    <a:pt x="44357" y="666750"/>
                    <a:pt x="28575" y="666750"/>
                  </a:cubicBezTo>
                  <a:lnTo>
                    <a:pt x="28575" y="666750"/>
                  </a:lnTo>
                  <a:cubicBezTo>
                    <a:pt x="12793" y="666750"/>
                    <a:pt x="0" y="653957"/>
                    <a:pt x="0" y="638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514475" y="489585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794510" y="4852035"/>
              <a:ext cx="23031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Robocom 马术机器人竞速赛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4381500" y="4810125"/>
              <a:ext cx="1066800" cy="190500"/>
            </a:xfrm>
            <a:custGeom>
              <a:avLst/>
              <a:gdLst/>
              <a:ahLst/>
              <a:cxnLst/>
              <a:rect l="l" t="t" r="r" b="b"/>
              <a:pathLst>
                <a:path w="1066800" h="19050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95250"/>
                  </a:lnTo>
                  <a:cubicBezTo>
                    <a:pt x="1066800" y="147855"/>
                    <a:pt x="1024155" y="190500"/>
                    <a:pt x="9715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558427" y="48558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国家三等奖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796415" y="5106352"/>
              <a:ext cx="5173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2025年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71550" y="5381625"/>
            <a:ext cx="10648950" cy="666750"/>
            <a:chOff x="971550" y="5381625"/>
            <a:chExt cx="10648950" cy="666750"/>
          </a:xfrm>
        </p:grpSpPr>
        <p:sp>
          <p:nvSpPr>
            <p:cNvPr id="70" name="Ellipse 70"/>
            <p:cNvSpPr/>
            <p:nvPr/>
          </p:nvSpPr>
          <p:spPr>
            <a:xfrm>
              <a:off x="1047750" y="557212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971550" y="5495925"/>
              <a:ext cx="342900" cy="3429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1504950" y="5381625"/>
              <a:ext cx="10115550" cy="666750"/>
            </a:xfrm>
            <a:custGeom>
              <a:avLst/>
              <a:gdLst/>
              <a:ahLst/>
              <a:cxnLst/>
              <a:rect l="l" t="t" r="r" b="b"/>
              <a:pathLst>
                <a:path w="10115550" h="666750">
                  <a:moveTo>
                    <a:pt x="114300" y="0"/>
                  </a:moveTo>
                  <a:lnTo>
                    <a:pt x="10001250" y="0"/>
                  </a:lnTo>
                  <a:cubicBezTo>
                    <a:pt x="10064376" y="0"/>
                    <a:pt x="10115550" y="51174"/>
                    <a:pt x="10115550" y="114300"/>
                  </a:cubicBezTo>
                  <a:lnTo>
                    <a:pt x="10115550" y="552450"/>
                  </a:lnTo>
                  <a:cubicBezTo>
                    <a:pt x="10115550" y="615576"/>
                    <a:pt x="10064376" y="666750"/>
                    <a:pt x="1000125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1562100" y="5381625"/>
              <a:ext cx="57150" cy="666750"/>
            </a:xfrm>
            <a:custGeom>
              <a:avLst/>
              <a:gdLst/>
              <a:ahLst/>
              <a:cxnLst/>
              <a:rect l="l" t="t" r="r" b="b"/>
              <a:pathLst>
                <a:path w="57150" h="666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638175"/>
                  </a:lnTo>
                  <a:cubicBezTo>
                    <a:pt x="57150" y="653957"/>
                    <a:pt x="44357" y="666750"/>
                    <a:pt x="28575" y="666750"/>
                  </a:cubicBezTo>
                  <a:lnTo>
                    <a:pt x="28575" y="666750"/>
                  </a:lnTo>
                  <a:cubicBezTo>
                    <a:pt x="12793" y="666750"/>
                    <a:pt x="0" y="653957"/>
                    <a:pt x="0" y="638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1514475" y="5562600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794510" y="5518785"/>
              <a:ext cx="28920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第7届国际青年人工智能大赛总决赛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4572000" y="5476875"/>
              <a:ext cx="1066800" cy="190500"/>
            </a:xfrm>
            <a:custGeom>
              <a:avLst/>
              <a:gdLst/>
              <a:ahLst/>
              <a:cxnLst/>
              <a:rect l="l" t="t" r="r" b="b"/>
              <a:pathLst>
                <a:path w="1066800" h="19050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95250"/>
                  </a:lnTo>
                  <a:cubicBezTo>
                    <a:pt x="1066800" y="147855"/>
                    <a:pt x="1024155" y="190500"/>
                    <a:pt x="9715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748927" y="55225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国家三等奖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796415" y="5773102"/>
              <a:ext cx="5173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2025年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60070" y="6570345"/>
            <a:ext cx="11071860" cy="182880"/>
            <a:chOff x="560070" y="6570345"/>
            <a:chExt cx="11071860" cy="182880"/>
          </a:xfrm>
        </p:grpSpPr>
        <p:sp>
          <p:nvSpPr>
            <p:cNvPr id="80" name="TextBox 80"/>
            <p:cNvSpPr txBox="1"/>
            <p:nvPr/>
          </p:nvSpPr>
          <p:spPr>
            <a:xfrm>
              <a:off x="11267313" y="6570345"/>
              <a:ext cx="3646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11 / 13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60070" y="65703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张锦洋 · 个人简历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9" grpId="0"/>
      <p:bldP spid="39" grpId="0"/>
      <p:bldP spid="49" grpId="0"/>
      <p:bldP spid="59" grpId="0"/>
      <p:bldP spid="69" grpId="0"/>
      <p:bldP spid="7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429000" y="762000"/>
            <a:ext cx="5334000" cy="5334000"/>
          </a:xfrm>
          <a:prstGeom prst="ellipse">
            <a:avLst/>
          </a:prstGeom>
          <a:solidFill>
            <a:srgbClr val="1565C0">
              <a:alpha val="3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4" name="Rectangle 4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914400"/>
              <a:ext cx="12192000" cy="3810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37210" y="260985"/>
              <a:ext cx="172478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自我评价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212" y="659606"/>
              <a:ext cx="13348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Self Assessment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66800" y="1066800"/>
            <a:ext cx="658463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1565C0">
                    <a:alphaMod val="8000"/>
                  </a:srgbClr>
                </a:solidFill>
                <a:latin typeface="Arial"/>
                <a:ea typeface="Microsoft YaHei"/>
                <a:cs typeface="Arial"/>
              </a:rPr>
              <a:t>"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33500" y="1619250"/>
            <a:ext cx="19887724" cy="469900"/>
            <a:chOff x="1333500" y="1619250"/>
            <a:chExt cx="19887724" cy="469900"/>
          </a:xfrm>
        </p:grpSpPr>
        <p:sp>
          <p:nvSpPr>
            <p:cNvPr id="10" name="Rectangle 10"/>
            <p:cNvSpPr/>
            <p:nvPr/>
          </p:nvSpPr>
          <p:spPr>
            <a:xfrm>
              <a:off x="1333500" y="161925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E3F2FD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600200" y="1898650"/>
              <a:ext cx="228600" cy="190500"/>
              <a:chOff x="1600200" y="1898650"/>
              <a:chExt cx="228600" cy="190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600200" y="1898650"/>
                <a:ext cx="2286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90500">
                    <a:moveTo>
                      <a:pt x="114300" y="0"/>
                    </a:moveTo>
                    <a:lnTo>
                      <a:pt x="63500" y="101600"/>
                    </a:lnTo>
                    <a:lnTo>
                      <a:pt x="12700" y="101600"/>
                    </a:lnTo>
                    <a:cubicBezTo>
                      <a:pt x="5686" y="101600"/>
                      <a:pt x="0" y="107286"/>
                      <a:pt x="0" y="114300"/>
                    </a:cubicBezTo>
                    <a:lnTo>
                      <a:pt x="0" y="177800"/>
                    </a:lnTo>
                    <a:cubicBezTo>
                      <a:pt x="0" y="184814"/>
                      <a:pt x="5686" y="190500"/>
                      <a:pt x="12700" y="190500"/>
                    </a:cubicBezTo>
                    <a:lnTo>
                      <a:pt x="215900" y="190500"/>
                    </a:lnTo>
                    <a:cubicBezTo>
                      <a:pt x="222914" y="190500"/>
                      <a:pt x="228600" y="184814"/>
                      <a:pt x="228600" y="177800"/>
                    </a:cubicBezTo>
                    <a:lnTo>
                      <a:pt x="228600" y="114300"/>
                    </a:lnTo>
                    <a:cubicBezTo>
                      <a:pt x="228600" y="107286"/>
                      <a:pt x="222914" y="101600"/>
                      <a:pt x="215900" y="101600"/>
                    </a:cubicBezTo>
                    <a:lnTo>
                      <a:pt x="165100" y="10160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76400" y="2000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752600" y="2000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981200" y="1743075"/>
              <a:ext cx="192400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学习能力强</a:t>
              </a:r>
              <a:r>
                <a:rPr lang="zh-CN" sz="15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5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，对人工智能、机器人开发领域充满热情，熟练掌握 Python、C++ 等编程语言，熟悉 Linux、Docker、Git 等开发工具，能快速适应各类开发岗位需求，渴望在实战中积累更多工程经验。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33500" y="2952750"/>
            <a:ext cx="16995934" cy="508000"/>
            <a:chOff x="1333500" y="2952750"/>
            <a:chExt cx="16995934" cy="508000"/>
          </a:xfrm>
        </p:grpSpPr>
        <p:sp>
          <p:nvSpPr>
            <p:cNvPr id="17" name="Rectangle 17"/>
            <p:cNvSpPr/>
            <p:nvPr/>
          </p:nvSpPr>
          <p:spPr>
            <a:xfrm>
              <a:off x="1333500" y="295275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587500" y="3257550"/>
              <a:ext cx="228600" cy="203200"/>
            </a:xfrm>
            <a:custGeom>
              <a:avLst/>
              <a:gdLst/>
              <a:ahLst/>
              <a:cxnLst/>
              <a:rect l="l" t="t" r="r" b="b"/>
              <a:pathLst>
                <a:path w="228600" h="203200">
                  <a:moveTo>
                    <a:pt x="25400" y="0"/>
                  </a:moveTo>
                  <a:lnTo>
                    <a:pt x="228600" y="0"/>
                  </a:lnTo>
                  <a:lnTo>
                    <a:pt x="228600" y="50800"/>
                  </a:lnTo>
                  <a:lnTo>
                    <a:pt x="177800" y="50800"/>
                  </a:lnTo>
                  <a:lnTo>
                    <a:pt x="101600" y="203200"/>
                  </a:lnTo>
                  <a:lnTo>
                    <a:pt x="63500" y="114300"/>
                  </a:lnTo>
                  <a:lnTo>
                    <a:pt x="25400" y="1397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81200" y="3076575"/>
              <a:ext cx="163482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AI 专业背景扎实</a:t>
              </a:r>
              <a:r>
                <a:rPr lang="zh-CN" sz="15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5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，具备人工智能与计算机专业基础，在硬件开发、模型训练、数据标注、机器人设计等方向拥有丰富实操经验，掌握从方案设计到开发调试的完整流程。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33500" y="4286250"/>
            <a:ext cx="21563647" cy="495300"/>
            <a:chOff x="1333500" y="4286250"/>
            <a:chExt cx="21563647" cy="495300"/>
          </a:xfrm>
        </p:grpSpPr>
        <p:sp>
          <p:nvSpPr>
            <p:cNvPr id="21" name="Rectangle 21"/>
            <p:cNvSpPr/>
            <p:nvPr/>
          </p:nvSpPr>
          <p:spPr>
            <a:xfrm>
              <a:off x="1333500" y="428625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595802" y="4575092"/>
              <a:ext cx="237165" cy="206458"/>
            </a:xfrm>
            <a:custGeom>
              <a:avLst/>
              <a:gdLst/>
              <a:ahLst/>
              <a:cxnLst/>
              <a:rect l="l" t="t" r="r" b="b"/>
              <a:pathLst>
                <a:path w="237165" h="206458">
                  <a:moveTo>
                    <a:pt x="213948" y="112123"/>
                  </a:moveTo>
                  <a:lnTo>
                    <a:pt x="118698" y="206458"/>
                  </a:lnTo>
                  <a:lnTo>
                    <a:pt x="23448" y="112123"/>
                  </a:lnTo>
                  <a:moveTo>
                    <a:pt x="23448" y="112123"/>
                  </a:moveTo>
                  <a:cubicBezTo>
                    <a:pt x="6319" y="95455"/>
                    <a:pt x="0" y="70581"/>
                    <a:pt x="7096" y="47759"/>
                  </a:cubicBezTo>
                  <a:cubicBezTo>
                    <a:pt x="14192" y="24937"/>
                    <a:pt x="33502" y="8033"/>
                    <a:pt x="57062" y="4016"/>
                  </a:cubicBezTo>
                  <a:cubicBezTo>
                    <a:pt x="80621" y="0"/>
                    <a:pt x="104441" y="9552"/>
                    <a:pt x="118698" y="28734"/>
                  </a:cubicBezTo>
                  <a:cubicBezTo>
                    <a:pt x="133014" y="9694"/>
                    <a:pt x="156783" y="269"/>
                    <a:pt x="180257" y="4323"/>
                  </a:cubicBezTo>
                  <a:cubicBezTo>
                    <a:pt x="203732" y="8376"/>
                    <a:pt x="222962" y="25228"/>
                    <a:pt x="230064" y="47967"/>
                  </a:cubicBezTo>
                  <a:cubicBezTo>
                    <a:pt x="237165" y="70705"/>
                    <a:pt x="230943" y="95506"/>
                    <a:pt x="213948" y="112199"/>
                  </a:cubicBezTo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981200" y="4410075"/>
              <a:ext cx="209159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团队协作与项目管理经验丰富</a:t>
              </a:r>
              <a:r>
                <a:rPr lang="zh-CN" sz="15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5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，多次担任国家级、省级竞赛技术负责人，带领团队取得多项优异成绩，具备良好的逻辑思维与问题解决能力，能在高压环境下保持细致和高效的工作状态，责任心强且乐于接受新挑战。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0070" y="6570345"/>
            <a:ext cx="11071860" cy="182880"/>
            <a:chOff x="560070" y="6570345"/>
            <a:chExt cx="11071860" cy="182880"/>
          </a:xfrm>
        </p:grpSpPr>
        <p:sp>
          <p:nvSpPr>
            <p:cNvPr id="25" name="TextBox 25"/>
            <p:cNvSpPr txBox="1"/>
            <p:nvPr/>
          </p:nvSpPr>
          <p:spPr>
            <a:xfrm>
              <a:off x="11234452" y="657034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12 / 13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0070" y="65703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张锦洋 · 个人简历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12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476250" y="3810000"/>
            <a:ext cx="3810000" cy="3810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9334500" y="-190500"/>
            <a:ext cx="2286000" cy="228600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668000" y="5429250"/>
            <a:ext cx="1524000" cy="1524000"/>
          </a:xfrm>
          <a:prstGeom prst="ellipse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1757362" y="1771650"/>
            <a:ext cx="257175" cy="214312"/>
            <a:chOff x="1757362" y="1771650"/>
            <a:chExt cx="257175" cy="214312"/>
          </a:xfrm>
        </p:grpSpPr>
        <p:sp>
          <p:nvSpPr>
            <p:cNvPr id="7" name="Freeform 7"/>
            <p:cNvSpPr/>
            <p:nvPr/>
          </p:nvSpPr>
          <p:spPr>
            <a:xfrm>
              <a:off x="1757362" y="1771650"/>
              <a:ext cx="257175" cy="214312"/>
            </a:xfrm>
            <a:custGeom>
              <a:avLst/>
              <a:gdLst/>
              <a:ahLst/>
              <a:cxnLst/>
              <a:rect l="l" t="t" r="r" b="b"/>
              <a:pathLst>
                <a:path w="257175" h="214312">
                  <a:moveTo>
                    <a:pt x="128588" y="0"/>
                  </a:moveTo>
                  <a:lnTo>
                    <a:pt x="71438" y="114300"/>
                  </a:lnTo>
                  <a:lnTo>
                    <a:pt x="14288" y="114300"/>
                  </a:lnTo>
                  <a:cubicBezTo>
                    <a:pt x="6397" y="114300"/>
                    <a:pt x="0" y="120697"/>
                    <a:pt x="0" y="128588"/>
                  </a:cubicBezTo>
                  <a:lnTo>
                    <a:pt x="0" y="200025"/>
                  </a:lnTo>
                  <a:cubicBezTo>
                    <a:pt x="0" y="207916"/>
                    <a:pt x="6397" y="214312"/>
                    <a:pt x="14288" y="214312"/>
                  </a:cubicBezTo>
                  <a:lnTo>
                    <a:pt x="242888" y="214312"/>
                  </a:lnTo>
                  <a:cubicBezTo>
                    <a:pt x="250778" y="214312"/>
                    <a:pt x="257175" y="207916"/>
                    <a:pt x="257175" y="200025"/>
                  </a:cubicBezTo>
                  <a:lnTo>
                    <a:pt x="257175" y="128588"/>
                  </a:lnTo>
                  <a:cubicBezTo>
                    <a:pt x="257175" y="120697"/>
                    <a:pt x="250778" y="114300"/>
                    <a:pt x="242888" y="114300"/>
                  </a:cubicBezTo>
                  <a:lnTo>
                    <a:pt x="185738" y="114300"/>
                  </a:lnTo>
                  <a:lnTo>
                    <a:pt x="128588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843088" y="18859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43"/>
                  </a:lnTo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928812" y="18859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43"/>
                  </a:lnTo>
                </a:path>
              </a:pathLst>
            </a:custGeom>
            <a:solidFill>
              <a:srgbClr val="FFFFFF">
                <a:alpha val="30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035540" y="1569720"/>
            <a:ext cx="205740" cy="171450"/>
            <a:chOff x="10035540" y="1569720"/>
            <a:chExt cx="205740" cy="171450"/>
          </a:xfrm>
        </p:grpSpPr>
        <p:sp>
          <p:nvSpPr>
            <p:cNvPr id="11" name="Freeform 11"/>
            <p:cNvSpPr/>
            <p:nvPr/>
          </p:nvSpPr>
          <p:spPr>
            <a:xfrm>
              <a:off x="10035540" y="1569720"/>
              <a:ext cx="205740" cy="171450"/>
            </a:xfrm>
            <a:custGeom>
              <a:avLst/>
              <a:gdLst/>
              <a:ahLst/>
              <a:cxnLst/>
              <a:rect l="l" t="t" r="r" b="b"/>
              <a:pathLst>
                <a:path w="205740" h="171450">
                  <a:moveTo>
                    <a:pt x="102870" y="0"/>
                  </a:moveTo>
                  <a:lnTo>
                    <a:pt x="57150" y="91440"/>
                  </a:lnTo>
                  <a:lnTo>
                    <a:pt x="11430" y="91440"/>
                  </a:lnTo>
                  <a:cubicBezTo>
                    <a:pt x="5117" y="91440"/>
                    <a:pt x="0" y="96557"/>
                    <a:pt x="0" y="102870"/>
                  </a:cubicBezTo>
                  <a:lnTo>
                    <a:pt x="0" y="160020"/>
                  </a:lnTo>
                  <a:cubicBezTo>
                    <a:pt x="0" y="166333"/>
                    <a:pt x="5117" y="171450"/>
                    <a:pt x="11430" y="171450"/>
                  </a:cubicBezTo>
                  <a:lnTo>
                    <a:pt x="194310" y="171450"/>
                  </a:lnTo>
                  <a:cubicBezTo>
                    <a:pt x="200623" y="171450"/>
                    <a:pt x="205740" y="166333"/>
                    <a:pt x="205740" y="160020"/>
                  </a:cubicBezTo>
                  <a:lnTo>
                    <a:pt x="205740" y="102870"/>
                  </a:lnTo>
                  <a:cubicBezTo>
                    <a:pt x="205740" y="96557"/>
                    <a:pt x="200623" y="91440"/>
                    <a:pt x="194310" y="91440"/>
                  </a:cubicBezTo>
                  <a:lnTo>
                    <a:pt x="148590" y="91440"/>
                  </a:lnTo>
                  <a:lnTo>
                    <a:pt x="102870" y="0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0104120" y="166116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14"/>
                  </a:lnTo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172700" y="166116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14"/>
                  </a:lnTo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501515" y="2529840"/>
            <a:ext cx="3188970" cy="1932622"/>
            <a:chOff x="4501515" y="2529840"/>
            <a:chExt cx="3188970" cy="1932622"/>
          </a:xfrm>
        </p:grpSpPr>
        <p:sp>
          <p:nvSpPr>
            <p:cNvPr id="15" name="TextBox 15"/>
            <p:cNvSpPr txBox="1"/>
            <p:nvPr/>
          </p:nvSpPr>
          <p:spPr>
            <a:xfrm>
              <a:off x="4562856" y="2529840"/>
              <a:ext cx="306628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感谢关注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953000" y="3429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13571" y="3822382"/>
              <a:ext cx="7648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张锦洋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1515" y="4188142"/>
              <a:ext cx="3188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18991321768 · 3094084480@qq.com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303633" y="6466999"/>
            <a:ext cx="35847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期待与您共事 · Looking Forward to Working With You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