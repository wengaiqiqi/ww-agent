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D47A1"/>
              </a:gs>
              <a:gs pos="40000">
                <a:srgbClr val="1565C0"/>
              </a:gs>
              <a:gs pos="100000">
                <a:srgbClr val="42A5F5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>
                  <a:alpha val="12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2A5F5">
                  <a:alpha val="20000"/>
                </a:srgbClr>
              </a:gs>
              <a:gs pos="100000">
                <a:srgbClr val="0D47A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763000" y="-285750"/>
            <a:ext cx="3429000" cy="3429000"/>
          </a:xfrm>
          <a:prstGeom prst="ellipse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334500" y="28575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8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9906000" y="85725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10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952500" y="4572000"/>
            <a:ext cx="1905000" cy="1905000"/>
          </a:xfrm>
          <a:prstGeom prst="ellipse">
            <a:avLst/>
          </a:prstGeom>
          <a:noFill/>
          <a:ln w="9525">
            <a:solidFill>
              <a:srgbClr val="42A5F5">
                <a:alpha val="12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333500" y="4953000"/>
            <a:ext cx="1143000" cy="1143000"/>
          </a:xfrm>
          <a:prstGeom prst="ellipse">
            <a:avLst/>
          </a:prstGeom>
          <a:noFill/>
          <a:ln w="9525">
            <a:solidFill>
              <a:srgbClr val="42A5F5">
                <a:alpha val="8000"/>
              </a:srgbClr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400175" y="1495425"/>
            <a:ext cx="57150" cy="57150"/>
          </a:xfrm>
          <a:prstGeom prst="ellipse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695450" y="1314450"/>
            <a:ext cx="38100" cy="381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976438" y="1595438"/>
            <a:ext cx="47625" cy="47625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925175" y="5686425"/>
            <a:ext cx="57150" cy="5715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1220450" y="5981700"/>
            <a:ext cx="38100" cy="381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0644188" y="5881688"/>
            <a:ext cx="47625" cy="47625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785265" y="2084070"/>
            <a:ext cx="2621470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张锦洋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42A5F5">
                  <a:alpha val="60000"/>
                </a:srgbClr>
              </a:gs>
              <a:gs pos="50000">
                <a:srgbClr val="FFFFFF">
                  <a:alpha val="80000"/>
                </a:srgbClr>
              </a:gs>
              <a:gs pos="100000">
                <a:srgbClr val="42A5F5">
                  <a:alpha val="6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55920" y="329755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个人简历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43781" y="4426268"/>
            <a:ext cx="35044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65000"/>
                  </a:srgbClr>
                </a:solidFill>
                <a:latin typeface="Arial"/>
                <a:ea typeface="Microsoft YaHei"/>
                <a:cs typeface="Arial"/>
              </a:rPr>
              <a:t>人工智能专业 · 本科在读 · 18991321768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524500" y="5905500"/>
            <a:ext cx="1143000" cy="1905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10403421" y="1367371"/>
            <a:ext cx="249758" cy="237058"/>
            <a:chOff x="10403421" y="1367371"/>
            <a:chExt cx="249758" cy="237058"/>
          </a:xfrm>
        </p:grpSpPr>
        <p:sp>
          <p:nvSpPr>
            <p:cNvPr id="21" name="Freeform 21"/>
            <p:cNvSpPr/>
            <p:nvPr/>
          </p:nvSpPr>
          <p:spPr>
            <a:xfrm>
              <a:off x="10572750" y="1519771"/>
              <a:ext cx="80429" cy="84658"/>
            </a:xfrm>
            <a:custGeom>
              <a:avLst/>
              <a:gdLst/>
              <a:ahLst/>
              <a:cxnLst/>
              <a:rect l="l" t="t" r="r" b="b"/>
              <a:pathLst>
                <a:path w="80429" h="84658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403421" y="1392771"/>
              <a:ext cx="186258" cy="182029"/>
            </a:xfrm>
            <a:custGeom>
              <a:avLst/>
              <a:gdLst/>
              <a:ahLst/>
              <a:cxnLst/>
              <a:rect l="l" t="t" r="r" b="b"/>
              <a:pathLst>
                <a:path w="186258" h="182029">
                  <a:moveTo>
                    <a:pt x="16929" y="80429"/>
                  </a:moveTo>
                  <a:cubicBezTo>
                    <a:pt x="51999" y="80429"/>
                    <a:pt x="80429" y="51999"/>
                    <a:pt x="80429" y="16929"/>
                  </a:cubicBezTo>
                  <a:cubicBezTo>
                    <a:pt x="80429" y="0"/>
                    <a:pt x="105829" y="0"/>
                    <a:pt x="105829" y="16929"/>
                  </a:cubicBezTo>
                  <a:cubicBezTo>
                    <a:pt x="105829" y="51999"/>
                    <a:pt x="134259" y="80429"/>
                    <a:pt x="169329" y="80429"/>
                  </a:cubicBezTo>
                  <a:cubicBezTo>
                    <a:pt x="186258" y="80429"/>
                    <a:pt x="186258" y="105829"/>
                    <a:pt x="169329" y="105829"/>
                  </a:cubicBezTo>
                  <a:cubicBezTo>
                    <a:pt x="134259" y="105829"/>
                    <a:pt x="105829" y="134259"/>
                    <a:pt x="105829" y="169329"/>
                  </a:cubicBezTo>
                  <a:cubicBezTo>
                    <a:pt x="105829" y="176343"/>
                    <a:pt x="100143" y="182029"/>
                    <a:pt x="93129" y="182029"/>
                  </a:cubicBezTo>
                  <a:cubicBezTo>
                    <a:pt x="86115" y="182029"/>
                    <a:pt x="80429" y="176343"/>
                    <a:pt x="80429" y="169329"/>
                  </a:cubicBezTo>
                  <a:cubicBezTo>
                    <a:pt x="80429" y="134259"/>
                    <a:pt x="51999" y="105829"/>
                    <a:pt x="16929" y="105829"/>
                  </a:cubicBezTo>
                  <a:cubicBezTo>
                    <a:pt x="0" y="105829"/>
                    <a:pt x="0" y="80429"/>
                    <a:pt x="16929" y="804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572750" y="1367371"/>
              <a:ext cx="80429" cy="84658"/>
            </a:xfrm>
            <a:custGeom>
              <a:avLst/>
              <a:gdLst/>
              <a:ahLst/>
              <a:cxnLst/>
              <a:rect l="l" t="t" r="r" b="b"/>
              <a:pathLst>
                <a:path w="80429" h="84658">
                  <a:moveTo>
                    <a:pt x="12700" y="55029"/>
                  </a:moveTo>
                  <a:cubicBezTo>
                    <a:pt x="5686" y="55029"/>
                    <a:pt x="0" y="49343"/>
                    <a:pt x="0" y="42329"/>
                  </a:cubicBezTo>
                  <a:cubicBezTo>
                    <a:pt x="0" y="35315"/>
                    <a:pt x="5686" y="29629"/>
                    <a:pt x="12700" y="29629"/>
                  </a:cubicBezTo>
                  <a:cubicBezTo>
                    <a:pt x="19714" y="29629"/>
                    <a:pt x="25400" y="23943"/>
                    <a:pt x="25400" y="16929"/>
                  </a:cubicBezTo>
                  <a:cubicBezTo>
                    <a:pt x="25400" y="0"/>
                    <a:pt x="50800" y="0"/>
                    <a:pt x="50800" y="16929"/>
                  </a:cubicBezTo>
                  <a:cubicBezTo>
                    <a:pt x="50800" y="23943"/>
                    <a:pt x="56486" y="29629"/>
                    <a:pt x="63500" y="29629"/>
                  </a:cubicBezTo>
                  <a:cubicBezTo>
                    <a:pt x="80429" y="29629"/>
                    <a:pt x="80429" y="55029"/>
                    <a:pt x="63500" y="55029"/>
                  </a:cubicBezTo>
                  <a:cubicBezTo>
                    <a:pt x="56486" y="55029"/>
                    <a:pt x="50800" y="60715"/>
                    <a:pt x="50800" y="67729"/>
                  </a:cubicBezTo>
                  <a:cubicBezTo>
                    <a:pt x="50800" y="84658"/>
                    <a:pt x="25400" y="84658"/>
                    <a:pt x="25400" y="67729"/>
                  </a:cubicBezTo>
                  <a:cubicBezTo>
                    <a:pt x="25400" y="60715"/>
                    <a:pt x="19714" y="55029"/>
                    <a:pt x="12700" y="550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028706" y="6379845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525000" y="-1428750"/>
            <a:ext cx="3810000" cy="38100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基本信息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7212" y="659606"/>
            <a:ext cx="1704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Personal Information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238250"/>
            <a:ext cx="3238500" cy="7620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44550" y="1492250"/>
            <a:ext cx="177800" cy="254000"/>
            <a:chOff x="844550" y="1492250"/>
            <a:chExt cx="177800" cy="254000"/>
          </a:xfrm>
        </p:grpSpPr>
        <p:sp>
          <p:nvSpPr>
            <p:cNvPr id="9" name="Freeform 9"/>
            <p:cNvSpPr/>
            <p:nvPr/>
          </p:nvSpPr>
          <p:spPr>
            <a:xfrm>
              <a:off x="869950" y="149225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98570" y="0"/>
                    <a:pt x="127000" y="28430"/>
                    <a:pt x="127000" y="63500"/>
                  </a:cubicBezTo>
                  <a:cubicBezTo>
                    <a:pt x="127000" y="98570"/>
                    <a:pt x="98570" y="127000"/>
                    <a:pt x="63500" y="127000"/>
                  </a:cubicBezTo>
                  <a:cubicBezTo>
                    <a:pt x="28430" y="127000"/>
                    <a:pt x="0" y="98570"/>
                    <a:pt x="0" y="63500"/>
                  </a:cubicBezTo>
                  <a:lnTo>
                    <a:pt x="64" y="60744"/>
                  </a:lnTo>
                  <a:cubicBezTo>
                    <a:pt x="1539" y="26779"/>
                    <a:pt x="29503" y="2"/>
                    <a:pt x="6350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44550" y="1644650"/>
              <a:ext cx="177800" cy="101600"/>
            </a:xfrm>
            <a:custGeom>
              <a:avLst/>
              <a:gdLst/>
              <a:ahLst/>
              <a:cxnLst/>
              <a:rect l="l" t="t" r="r" b="b"/>
              <a:pathLst>
                <a:path w="177800" h="101600">
                  <a:moveTo>
                    <a:pt x="114300" y="0"/>
                  </a:moveTo>
                  <a:cubicBezTo>
                    <a:pt x="149370" y="0"/>
                    <a:pt x="177800" y="28430"/>
                    <a:pt x="177800" y="63500"/>
                  </a:cubicBezTo>
                  <a:lnTo>
                    <a:pt x="177800" y="76200"/>
                  </a:lnTo>
                  <a:cubicBezTo>
                    <a:pt x="177800" y="90228"/>
                    <a:pt x="166428" y="101600"/>
                    <a:pt x="152400" y="101600"/>
                  </a:cubicBezTo>
                  <a:lnTo>
                    <a:pt x="25400" y="101600"/>
                  </a:lnTo>
                  <a:cubicBezTo>
                    <a:pt x="11372" y="101600"/>
                    <a:pt x="0" y="90228"/>
                    <a:pt x="0" y="762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lnTo>
                    <a:pt x="11430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19200" y="140970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张锦洋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3962" y="1688306"/>
            <a:ext cx="17620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男 · 22岁 · 本科 · 群众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143125"/>
            <a:ext cx="3238500" cy="619125"/>
          </a:xfrm>
          <a:prstGeom prst="roundRect">
            <a:avLst>
              <a:gd name="adj" fmla="val 18462"/>
            </a:avLst>
          </a:prstGeom>
          <a:solidFill>
            <a:srgbClr val="F4F6F9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03275" y="2346325"/>
            <a:ext cx="222250" cy="222251"/>
            <a:chOff x="803275" y="2346325"/>
            <a:chExt cx="222250" cy="222251"/>
          </a:xfrm>
        </p:grpSpPr>
        <p:sp>
          <p:nvSpPr>
            <p:cNvPr id="15" name="Freeform 15"/>
            <p:cNvSpPr/>
            <p:nvPr/>
          </p:nvSpPr>
          <p:spPr>
            <a:xfrm>
              <a:off x="803275" y="2357438"/>
              <a:ext cx="211137" cy="211138"/>
            </a:xfrm>
            <a:custGeom>
              <a:avLst/>
              <a:gdLst/>
              <a:ahLst/>
              <a:cxnLst/>
              <a:rect l="l" t="t" r="r" b="b"/>
              <a:pathLst>
                <a:path w="211137" h="211138">
                  <a:moveTo>
                    <a:pt x="88100" y="6990"/>
                  </a:moveTo>
                  <a:lnTo>
                    <a:pt x="110325" y="62552"/>
                  </a:lnTo>
                  <a:cubicBezTo>
                    <a:pt x="112345" y="67614"/>
                    <a:pt x="110396" y="73393"/>
                    <a:pt x="105724" y="76198"/>
                  </a:cubicBezTo>
                  <a:lnTo>
                    <a:pt x="87166" y="87344"/>
                  </a:lnTo>
                  <a:cubicBezTo>
                    <a:pt x="96285" y="102298"/>
                    <a:pt x="108842" y="114859"/>
                    <a:pt x="123793" y="123982"/>
                  </a:cubicBezTo>
                  <a:lnTo>
                    <a:pt x="134939" y="105413"/>
                  </a:lnTo>
                  <a:cubicBezTo>
                    <a:pt x="137744" y="100741"/>
                    <a:pt x="143524" y="98793"/>
                    <a:pt x="148585" y="100813"/>
                  </a:cubicBezTo>
                  <a:lnTo>
                    <a:pt x="204148" y="123038"/>
                  </a:lnTo>
                  <a:cubicBezTo>
                    <a:pt x="208367" y="124723"/>
                    <a:pt x="211135" y="128807"/>
                    <a:pt x="211137" y="133350"/>
                  </a:cubicBezTo>
                  <a:lnTo>
                    <a:pt x="211137" y="177800"/>
                  </a:lnTo>
                  <a:cubicBezTo>
                    <a:pt x="211137" y="196213"/>
                    <a:pt x="196213" y="211138"/>
                    <a:pt x="177133" y="211115"/>
                  </a:cubicBezTo>
                  <a:cubicBezTo>
                    <a:pt x="81799" y="205326"/>
                    <a:pt x="5801" y="129327"/>
                    <a:pt x="0" y="33338"/>
                  </a:cubicBezTo>
                  <a:cubicBezTo>
                    <a:pt x="0" y="14926"/>
                    <a:pt x="14926" y="0"/>
                    <a:pt x="33338" y="0"/>
                  </a:cubicBezTo>
                  <a:lnTo>
                    <a:pt x="77787" y="0"/>
                  </a:lnTo>
                  <a:cubicBezTo>
                    <a:pt x="82331" y="3"/>
                    <a:pt x="86414" y="2771"/>
                    <a:pt x="88100" y="6990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36625" y="239077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44450" y="33338"/>
                  </a:moveTo>
                  <a:cubicBezTo>
                    <a:pt x="44450" y="39475"/>
                    <a:pt x="39475" y="44450"/>
                    <a:pt x="33338" y="44450"/>
                  </a:cubicBezTo>
                  <a:cubicBezTo>
                    <a:pt x="27200" y="44450"/>
                    <a:pt x="22225" y="39475"/>
                    <a:pt x="22225" y="33338"/>
                  </a:cubicBezTo>
                  <a:cubicBezTo>
                    <a:pt x="22225" y="27200"/>
                    <a:pt x="17250" y="22225"/>
                    <a:pt x="11112" y="22225"/>
                  </a:cubicBezTo>
                  <a:cubicBezTo>
                    <a:pt x="4975" y="22225"/>
                    <a:pt x="0" y="17250"/>
                    <a:pt x="0" y="11112"/>
                  </a:cubicBezTo>
                  <a:cubicBezTo>
                    <a:pt x="0" y="4975"/>
                    <a:pt x="4975" y="0"/>
                    <a:pt x="11112" y="0"/>
                  </a:cubicBezTo>
                  <a:cubicBezTo>
                    <a:pt x="29524" y="0"/>
                    <a:pt x="44450" y="14926"/>
                    <a:pt x="44450" y="33338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36625" y="2346325"/>
              <a:ext cx="88900" cy="88900"/>
            </a:xfrm>
            <a:custGeom>
              <a:avLst/>
              <a:gdLst/>
              <a:ahLst/>
              <a:cxnLst/>
              <a:rect l="l" t="t" r="r" b="b"/>
              <a:pathLst>
                <a:path w="88900" h="88900">
                  <a:moveTo>
                    <a:pt x="88900" y="77787"/>
                  </a:moveTo>
                  <a:cubicBezTo>
                    <a:pt x="88900" y="83925"/>
                    <a:pt x="83925" y="88900"/>
                    <a:pt x="77787" y="88900"/>
                  </a:cubicBezTo>
                  <a:cubicBezTo>
                    <a:pt x="71650" y="88900"/>
                    <a:pt x="66675" y="83925"/>
                    <a:pt x="66675" y="77787"/>
                  </a:cubicBezTo>
                  <a:cubicBezTo>
                    <a:pt x="66675" y="47101"/>
                    <a:pt x="41799" y="22225"/>
                    <a:pt x="11112" y="22225"/>
                  </a:cubicBezTo>
                  <a:cubicBezTo>
                    <a:pt x="4975" y="22225"/>
                    <a:pt x="0" y="17250"/>
                    <a:pt x="0" y="11112"/>
                  </a:cubicBezTo>
                  <a:cubicBezTo>
                    <a:pt x="0" y="4975"/>
                    <a:pt x="4975" y="0"/>
                    <a:pt x="11112" y="0"/>
                  </a:cubicBezTo>
                  <a:cubicBezTo>
                    <a:pt x="54073" y="0"/>
                    <a:pt x="88900" y="34827"/>
                    <a:pt x="88900" y="77787"/>
                  </a:cubicBezTo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23962" y="22407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电话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1105" y="2445068"/>
            <a:ext cx="11315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18991321768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905125"/>
            <a:ext cx="3238500" cy="619125"/>
          </a:xfrm>
          <a:prstGeom prst="roundRect">
            <a:avLst>
              <a:gd name="adj" fmla="val 18462"/>
            </a:avLst>
          </a:prstGeom>
          <a:solidFill>
            <a:srgbClr val="F4F6F9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03275" y="3130550"/>
            <a:ext cx="222251" cy="177801"/>
            <a:chOff x="803275" y="3130550"/>
            <a:chExt cx="222251" cy="177801"/>
          </a:xfrm>
        </p:grpSpPr>
        <p:sp>
          <p:nvSpPr>
            <p:cNvPr id="22" name="Freeform 22"/>
            <p:cNvSpPr/>
            <p:nvPr/>
          </p:nvSpPr>
          <p:spPr>
            <a:xfrm>
              <a:off x="803275" y="3169833"/>
              <a:ext cx="222251" cy="138518"/>
            </a:xfrm>
            <a:custGeom>
              <a:avLst/>
              <a:gdLst/>
              <a:ahLst/>
              <a:cxnLst/>
              <a:rect l="l" t="t" r="r" b="b"/>
              <a:pathLst>
                <a:path w="222251" h="138518">
                  <a:moveTo>
                    <a:pt x="222250" y="0"/>
                  </a:moveTo>
                  <a:lnTo>
                    <a:pt x="222250" y="105180"/>
                  </a:lnTo>
                  <a:cubicBezTo>
                    <a:pt x="222251" y="122833"/>
                    <a:pt x="208491" y="137426"/>
                    <a:pt x="190868" y="138462"/>
                  </a:cubicBezTo>
                  <a:lnTo>
                    <a:pt x="188912" y="138517"/>
                  </a:lnTo>
                  <a:lnTo>
                    <a:pt x="33338" y="138517"/>
                  </a:lnTo>
                  <a:cubicBezTo>
                    <a:pt x="15685" y="138518"/>
                    <a:pt x="1091" y="124758"/>
                    <a:pt x="56" y="107136"/>
                  </a:cubicBezTo>
                  <a:lnTo>
                    <a:pt x="0" y="105180"/>
                  </a:lnTo>
                  <a:lnTo>
                    <a:pt x="0" y="0"/>
                  </a:lnTo>
                  <a:lnTo>
                    <a:pt x="104958" y="69975"/>
                  </a:lnTo>
                  <a:lnTo>
                    <a:pt x="106247" y="70709"/>
                  </a:lnTo>
                  <a:cubicBezTo>
                    <a:pt x="109325" y="72213"/>
                    <a:pt x="112925" y="72213"/>
                    <a:pt x="116003" y="70709"/>
                  </a:cubicBezTo>
                  <a:lnTo>
                    <a:pt x="117292" y="69975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08220" y="3130550"/>
              <a:ext cx="212360" cy="86644"/>
            </a:xfrm>
            <a:custGeom>
              <a:avLst/>
              <a:gdLst/>
              <a:ahLst/>
              <a:cxnLst/>
              <a:rect l="l" t="t" r="r" b="b"/>
              <a:pathLst>
                <a:path w="212360" h="86644">
                  <a:moveTo>
                    <a:pt x="183967" y="0"/>
                  </a:moveTo>
                  <a:cubicBezTo>
                    <a:pt x="195969" y="0"/>
                    <a:pt x="206492" y="6334"/>
                    <a:pt x="212360" y="15858"/>
                  </a:cubicBezTo>
                  <a:lnTo>
                    <a:pt x="106180" y="86644"/>
                  </a:lnTo>
                  <a:lnTo>
                    <a:pt x="0" y="15858"/>
                  </a:lnTo>
                  <a:cubicBezTo>
                    <a:pt x="5653" y="6675"/>
                    <a:pt x="15400" y="796"/>
                    <a:pt x="26159" y="78"/>
                  </a:cubicBezTo>
                  <a:lnTo>
                    <a:pt x="28392" y="0"/>
                  </a:lnTo>
                  <a:lnTo>
                    <a:pt x="183967" y="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223962" y="30027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邮箱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1105" y="3207068"/>
            <a:ext cx="20113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3094084480@qq.com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667125"/>
            <a:ext cx="3238500" cy="619125"/>
          </a:xfrm>
          <a:prstGeom prst="roundRect">
            <a:avLst>
              <a:gd name="adj" fmla="val 18462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804623" y="3860560"/>
            <a:ext cx="219666" cy="240711"/>
          </a:xfrm>
          <a:custGeom>
            <a:avLst/>
            <a:gdLst/>
            <a:ahLst/>
            <a:cxnLst/>
            <a:rect l="l" t="t" r="r" b="b"/>
            <a:pathLst>
              <a:path w="219666" h="240711">
                <a:moveTo>
                  <a:pt x="180497" y="39058"/>
                </a:moveTo>
                <a:cubicBezTo>
                  <a:pt x="218668" y="77223"/>
                  <a:pt x="219666" y="138792"/>
                  <a:pt x="182753" y="178175"/>
                </a:cubicBezTo>
                <a:lnTo>
                  <a:pt x="180497" y="180509"/>
                </a:lnTo>
                <a:lnTo>
                  <a:pt x="133347" y="227648"/>
                </a:lnTo>
                <a:cubicBezTo>
                  <a:pt x="120932" y="240055"/>
                  <a:pt x="101024" y="240711"/>
                  <a:pt x="87819" y="229148"/>
                </a:cubicBezTo>
                <a:lnTo>
                  <a:pt x="86219" y="227648"/>
                </a:lnTo>
                <a:lnTo>
                  <a:pt x="39058" y="180497"/>
                </a:lnTo>
                <a:cubicBezTo>
                  <a:pt x="0" y="141440"/>
                  <a:pt x="0" y="78115"/>
                  <a:pt x="39058" y="39058"/>
                </a:cubicBezTo>
                <a:cubicBezTo>
                  <a:pt x="78115" y="0"/>
                  <a:pt x="141440" y="0"/>
                  <a:pt x="180497" y="39058"/>
                </a:cubicBezTo>
                <a:close/>
                <a:moveTo>
                  <a:pt x="109777" y="76440"/>
                </a:moveTo>
                <a:cubicBezTo>
                  <a:pt x="91366" y="76440"/>
                  <a:pt x="76440" y="91366"/>
                  <a:pt x="76440" y="109777"/>
                </a:cubicBezTo>
                <a:cubicBezTo>
                  <a:pt x="76440" y="128189"/>
                  <a:pt x="91366" y="143115"/>
                  <a:pt x="109777" y="143115"/>
                </a:cubicBezTo>
                <a:cubicBezTo>
                  <a:pt x="128189" y="143115"/>
                  <a:pt x="143115" y="128189"/>
                  <a:pt x="143115" y="109777"/>
                </a:cubicBezTo>
                <a:cubicBezTo>
                  <a:pt x="143115" y="91366"/>
                  <a:pt x="128189" y="76440"/>
                  <a:pt x="109777" y="76440"/>
                </a:cubicBezTo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223962" y="3764756"/>
            <a:ext cx="357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地址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21105" y="39690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南宁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81500" y="1238250"/>
            <a:ext cx="7239000" cy="3048000"/>
          </a:xfrm>
          <a:prstGeom prst="roundRect">
            <a:avLst>
              <a:gd name="adj" fmla="val 5000"/>
            </a:avLst>
          </a:prstGeom>
          <a:solidFill>
            <a:srgbClr val="1565C0">
              <a:alpha val="4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835902" y="1863090"/>
            <a:ext cx="233019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565C0">
                    <a:alphaMod val="15000"/>
                  </a:srgbClr>
                </a:solidFill>
                <a:latin typeface="Arial"/>
                <a:ea typeface="Microsoft YaHei"/>
                <a:cs typeface="Arial"/>
              </a:rPr>
              <a:t>张锦洋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36568" y="2869882"/>
            <a:ext cx="27288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0D47A1">
                    <a:alphaMod val="40000"/>
                  </a:srgbClr>
                </a:solidFill>
                <a:latin typeface="Arial"/>
                <a:ea typeface="Microsoft YaHei"/>
                <a:cs typeface="Arial"/>
              </a:rPr>
              <a:t>人工智能专业 · 本科在读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7625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225552" y="3745706"/>
            <a:ext cx="597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Python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4770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082382" y="3745706"/>
            <a:ext cx="313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C++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1915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32187" y="3745706"/>
            <a:ext cx="4426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ROS2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906000" y="3619500"/>
            <a:ext cx="1524000" cy="3810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438061" y="3745706"/>
            <a:ext cx="459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Linux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4667250"/>
            <a:ext cx="11049000" cy="1333500"/>
          </a:xfrm>
          <a:prstGeom prst="roundRect">
            <a:avLst>
              <a:gd name="adj" fmla="val 8571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3" name="Freeform 43"/>
          <p:cNvSpPr/>
          <p:nvPr/>
        </p:nvSpPr>
        <p:spPr>
          <a:xfrm>
            <a:off x="868537" y="5010150"/>
            <a:ext cx="317325" cy="228600"/>
          </a:xfrm>
          <a:custGeom>
            <a:avLst/>
            <a:gdLst/>
            <a:ahLst/>
            <a:cxnLst/>
            <a:rect l="l" t="t" r="r" b="b"/>
            <a:pathLst>
              <a:path w="317325" h="228600">
                <a:moveTo>
                  <a:pt x="260175" y="134745"/>
                </a:moveTo>
                <a:lnTo>
                  <a:pt x="260175" y="171450"/>
                </a:lnTo>
                <a:cubicBezTo>
                  <a:pt x="260175" y="205711"/>
                  <a:pt x="214384" y="228600"/>
                  <a:pt x="160163" y="228600"/>
                </a:cubicBezTo>
                <a:cubicBezTo>
                  <a:pt x="105942" y="228600"/>
                  <a:pt x="60150" y="205711"/>
                  <a:pt x="60150" y="171450"/>
                </a:cubicBezTo>
                <a:lnTo>
                  <a:pt x="60150" y="134745"/>
                </a:lnTo>
                <a:lnTo>
                  <a:pt x="144247" y="168378"/>
                </a:lnTo>
                <a:cubicBezTo>
                  <a:pt x="153410" y="172047"/>
                  <a:pt x="163559" y="172440"/>
                  <a:pt x="172979" y="169493"/>
                </a:cubicBezTo>
                <a:lnTo>
                  <a:pt x="176079" y="168378"/>
                </a:lnTo>
                <a:close/>
                <a:moveTo>
                  <a:pt x="288750" y="92526"/>
                </a:moveTo>
                <a:lnTo>
                  <a:pt x="165464" y="141846"/>
                </a:lnTo>
                <a:cubicBezTo>
                  <a:pt x="162061" y="143206"/>
                  <a:pt x="158265" y="143206"/>
                  <a:pt x="154862" y="141846"/>
                </a:cubicBezTo>
                <a:lnTo>
                  <a:pt x="11987" y="84696"/>
                </a:lnTo>
                <a:cubicBezTo>
                  <a:pt x="0" y="79910"/>
                  <a:pt x="0" y="62965"/>
                  <a:pt x="11987" y="58179"/>
                </a:cubicBezTo>
                <a:lnTo>
                  <a:pt x="154862" y="1029"/>
                </a:lnTo>
                <a:cubicBezTo>
                  <a:pt x="155986" y="577"/>
                  <a:pt x="157162" y="270"/>
                  <a:pt x="158363" y="114"/>
                </a:cubicBezTo>
                <a:lnTo>
                  <a:pt x="160163" y="0"/>
                </a:lnTo>
                <a:lnTo>
                  <a:pt x="161963" y="114"/>
                </a:lnTo>
                <a:cubicBezTo>
                  <a:pt x="163164" y="270"/>
                  <a:pt x="164340" y="577"/>
                  <a:pt x="165464" y="1029"/>
                </a:cubicBezTo>
                <a:lnTo>
                  <a:pt x="308796" y="58364"/>
                </a:lnTo>
                <a:lnTo>
                  <a:pt x="310339" y="59150"/>
                </a:lnTo>
                <a:lnTo>
                  <a:pt x="311753" y="60122"/>
                </a:lnTo>
                <a:lnTo>
                  <a:pt x="313011" y="61208"/>
                </a:lnTo>
                <a:lnTo>
                  <a:pt x="314082" y="62379"/>
                </a:lnTo>
                <a:lnTo>
                  <a:pt x="314582" y="63008"/>
                </a:lnTo>
                <a:lnTo>
                  <a:pt x="315625" y="64651"/>
                </a:lnTo>
                <a:lnTo>
                  <a:pt x="316368" y="66294"/>
                </a:lnTo>
                <a:lnTo>
                  <a:pt x="316854" y="67751"/>
                </a:lnTo>
                <a:lnTo>
                  <a:pt x="317211" y="69680"/>
                </a:lnTo>
                <a:lnTo>
                  <a:pt x="317297" y="70509"/>
                </a:lnTo>
                <a:lnTo>
                  <a:pt x="317325" y="157162"/>
                </a:lnTo>
                <a:cubicBezTo>
                  <a:pt x="317325" y="165053"/>
                  <a:pt x="310929" y="171450"/>
                  <a:pt x="303038" y="171450"/>
                </a:cubicBezTo>
                <a:cubicBezTo>
                  <a:pt x="295147" y="171450"/>
                  <a:pt x="288750" y="165053"/>
                  <a:pt x="288750" y="157162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360170" y="4917758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广西民族大学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65885" y="5223510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人工智能专业 · 本科 · 2023.9 ~ 至今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66838" y="5498306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在校生 · 主攻AI与机器人方向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558337" y="5022537"/>
            <a:ext cx="200027" cy="222564"/>
            <a:chOff x="9558337" y="5022537"/>
            <a:chExt cx="200027" cy="222564"/>
          </a:xfrm>
        </p:grpSpPr>
        <p:sp>
          <p:nvSpPr>
            <p:cNvPr id="47" name="Freeform 47"/>
            <p:cNvSpPr/>
            <p:nvPr/>
          </p:nvSpPr>
          <p:spPr>
            <a:xfrm>
              <a:off x="9558337" y="5022537"/>
              <a:ext cx="200027" cy="222564"/>
            </a:xfrm>
            <a:custGeom>
              <a:avLst/>
              <a:gdLst/>
              <a:ahLst/>
              <a:cxnLst/>
              <a:rect l="l" t="t" r="r" b="b"/>
              <a:pathLst>
                <a:path w="200027" h="222564">
                  <a:moveTo>
                    <a:pt x="144463" y="313"/>
                  </a:moveTo>
                  <a:cubicBezTo>
                    <a:pt x="150097" y="314"/>
                    <a:pt x="154839" y="4530"/>
                    <a:pt x="155498" y="10125"/>
                  </a:cubicBezTo>
                  <a:lnTo>
                    <a:pt x="155576" y="11426"/>
                  </a:lnTo>
                  <a:lnTo>
                    <a:pt x="155576" y="22538"/>
                  </a:lnTo>
                  <a:lnTo>
                    <a:pt x="166688" y="22538"/>
                  </a:lnTo>
                  <a:cubicBezTo>
                    <a:pt x="184341" y="22537"/>
                    <a:pt x="198935" y="36297"/>
                    <a:pt x="199970" y="53920"/>
                  </a:cubicBezTo>
                  <a:lnTo>
                    <a:pt x="200026" y="55876"/>
                  </a:lnTo>
                  <a:lnTo>
                    <a:pt x="200026" y="189226"/>
                  </a:lnTo>
                  <a:cubicBezTo>
                    <a:pt x="200027" y="206878"/>
                    <a:pt x="186267" y="221472"/>
                    <a:pt x="168644" y="222508"/>
                  </a:cubicBezTo>
                  <a:lnTo>
                    <a:pt x="166688" y="222563"/>
                  </a:lnTo>
                  <a:lnTo>
                    <a:pt x="33338" y="222563"/>
                  </a:lnTo>
                  <a:cubicBezTo>
                    <a:pt x="15686" y="222564"/>
                    <a:pt x="1092" y="208804"/>
                    <a:pt x="57" y="191181"/>
                  </a:cubicBezTo>
                  <a:lnTo>
                    <a:pt x="1" y="189226"/>
                  </a:lnTo>
                  <a:lnTo>
                    <a:pt x="1" y="55876"/>
                  </a:lnTo>
                  <a:cubicBezTo>
                    <a:pt x="0" y="38223"/>
                    <a:pt x="13760" y="23629"/>
                    <a:pt x="31383" y="22594"/>
                  </a:cubicBezTo>
                  <a:lnTo>
                    <a:pt x="33338" y="22538"/>
                  </a:lnTo>
                  <a:lnTo>
                    <a:pt x="44451" y="22538"/>
                  </a:lnTo>
                  <a:lnTo>
                    <a:pt x="44451" y="11426"/>
                  </a:lnTo>
                  <a:cubicBezTo>
                    <a:pt x="44458" y="5546"/>
                    <a:pt x="49043" y="689"/>
                    <a:pt x="54912" y="345"/>
                  </a:cubicBezTo>
                  <a:cubicBezTo>
                    <a:pt x="60782" y="0"/>
                    <a:pt x="65904" y="4287"/>
                    <a:pt x="66598" y="10125"/>
                  </a:cubicBezTo>
                  <a:lnTo>
                    <a:pt x="66676" y="11426"/>
                  </a:lnTo>
                  <a:lnTo>
                    <a:pt x="66676" y="22538"/>
                  </a:lnTo>
                  <a:lnTo>
                    <a:pt x="133351" y="22538"/>
                  </a:lnTo>
                  <a:lnTo>
                    <a:pt x="133351" y="11426"/>
                  </a:lnTo>
                  <a:cubicBezTo>
                    <a:pt x="133351" y="5288"/>
                    <a:pt x="138326" y="313"/>
                    <a:pt x="144463" y="313"/>
                  </a:cubicBezTo>
                  <a:close/>
                  <a:moveTo>
                    <a:pt x="177801" y="78101"/>
                  </a:moveTo>
                  <a:lnTo>
                    <a:pt x="22226" y="78101"/>
                  </a:lnTo>
                  <a:lnTo>
                    <a:pt x="22226" y="185058"/>
                  </a:lnTo>
                  <a:cubicBezTo>
                    <a:pt x="22226" y="192893"/>
                    <a:pt x="26515" y="199349"/>
                    <a:pt x="32038" y="200238"/>
                  </a:cubicBezTo>
                  <a:lnTo>
                    <a:pt x="33338" y="200338"/>
                  </a:lnTo>
                  <a:lnTo>
                    <a:pt x="166688" y="200338"/>
                  </a:lnTo>
                  <a:cubicBezTo>
                    <a:pt x="172389" y="200338"/>
                    <a:pt x="177090" y="194449"/>
                    <a:pt x="177723" y="186836"/>
                  </a:cubicBezTo>
                  <a:lnTo>
                    <a:pt x="177801" y="185058"/>
                  </a:lnTo>
                  <a:lnTo>
                    <a:pt x="177801" y="7810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9635812" y="5133975"/>
              <a:ext cx="33651" cy="55876"/>
            </a:xfrm>
            <a:custGeom>
              <a:avLst/>
              <a:gdLst/>
              <a:ahLst/>
              <a:cxnLst/>
              <a:rect l="l" t="t" r="r" b="b"/>
              <a:pathLst>
                <a:path w="33651" h="55876">
                  <a:moveTo>
                    <a:pt x="22538" y="0"/>
                  </a:moveTo>
                  <a:cubicBezTo>
                    <a:pt x="28172" y="1"/>
                    <a:pt x="32914" y="4217"/>
                    <a:pt x="33573" y="9812"/>
                  </a:cubicBezTo>
                  <a:lnTo>
                    <a:pt x="33651" y="11112"/>
                  </a:lnTo>
                  <a:lnTo>
                    <a:pt x="33651" y="44450"/>
                  </a:lnTo>
                  <a:cubicBezTo>
                    <a:pt x="33644" y="50330"/>
                    <a:pt x="29059" y="55187"/>
                    <a:pt x="23189" y="55531"/>
                  </a:cubicBezTo>
                  <a:cubicBezTo>
                    <a:pt x="17320" y="55876"/>
                    <a:pt x="12198" y="51589"/>
                    <a:pt x="11503" y="45750"/>
                  </a:cubicBezTo>
                  <a:lnTo>
                    <a:pt x="11426" y="44450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9891712" y="508873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大二在读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 / 13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3333750"/>
            <a:ext cx="4762500" cy="4762500"/>
          </a:xfrm>
          <a:prstGeom prst="ellipse">
            <a:avLst/>
          </a:prstGeom>
          <a:solidFill>
            <a:srgbClr val="1565C0">
              <a:alpha val="3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教育经历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7212" y="659606"/>
            <a:ext cx="8008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Education</a:t>
            </a:r>
          </a:p>
        </p:txBody>
      </p:sp>
      <p:sp>
        <p:nvSpPr>
          <p:cNvPr id="8" name="Line 8"/>
          <p:cNvSpPr/>
          <p:nvPr/>
        </p:nvSpPr>
        <p:spPr>
          <a:xfrm>
            <a:off x="3048000" y="1809750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9" name="Ellipse 9"/>
          <p:cNvSpPr/>
          <p:nvPr/>
        </p:nvSpPr>
        <p:spPr>
          <a:xfrm>
            <a:off x="2933700" y="2552700"/>
            <a:ext cx="228600" cy="2286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857500" y="2476500"/>
            <a:ext cx="381000" cy="381000"/>
          </a:xfrm>
          <a:prstGeom prst="ellipse">
            <a:avLst/>
          </a:prstGeom>
          <a:solidFill>
            <a:srgbClr val="1565C0">
              <a:alpha val="15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619500" y="1524000"/>
            <a:ext cx="7239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3619500" y="1524000"/>
            <a:ext cx="57150" cy="1905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5400000" scaled="1"/>
          </a:gra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4013041" y="1920875"/>
            <a:ext cx="352584" cy="254000"/>
          </a:xfrm>
          <a:custGeom>
            <a:avLst/>
            <a:gdLst/>
            <a:ahLst/>
            <a:cxnLst/>
            <a:rect l="l" t="t" r="r" b="b"/>
            <a:pathLst>
              <a:path w="352584" h="254000">
                <a:moveTo>
                  <a:pt x="289084" y="149717"/>
                </a:moveTo>
                <a:lnTo>
                  <a:pt x="289084" y="190500"/>
                </a:lnTo>
                <a:cubicBezTo>
                  <a:pt x="289084" y="228568"/>
                  <a:pt x="238204" y="254000"/>
                  <a:pt x="177959" y="254000"/>
                </a:cubicBezTo>
                <a:cubicBezTo>
                  <a:pt x="117713" y="254000"/>
                  <a:pt x="66834" y="228568"/>
                  <a:pt x="66834" y="190500"/>
                </a:cubicBezTo>
                <a:lnTo>
                  <a:pt x="66834" y="149717"/>
                </a:lnTo>
                <a:lnTo>
                  <a:pt x="160274" y="187087"/>
                </a:lnTo>
                <a:cubicBezTo>
                  <a:pt x="170456" y="191163"/>
                  <a:pt x="181732" y="191601"/>
                  <a:pt x="192199" y="188325"/>
                </a:cubicBezTo>
                <a:lnTo>
                  <a:pt x="195644" y="187087"/>
                </a:lnTo>
                <a:close/>
                <a:moveTo>
                  <a:pt x="320834" y="102807"/>
                </a:moveTo>
                <a:lnTo>
                  <a:pt x="183848" y="157607"/>
                </a:lnTo>
                <a:cubicBezTo>
                  <a:pt x="180067" y="159118"/>
                  <a:pt x="175850" y="159118"/>
                  <a:pt x="172069" y="157607"/>
                </a:cubicBezTo>
                <a:lnTo>
                  <a:pt x="13319" y="94107"/>
                </a:lnTo>
                <a:cubicBezTo>
                  <a:pt x="0" y="88789"/>
                  <a:pt x="0" y="69961"/>
                  <a:pt x="13319" y="64643"/>
                </a:cubicBezTo>
                <a:lnTo>
                  <a:pt x="172069" y="1143"/>
                </a:lnTo>
                <a:cubicBezTo>
                  <a:pt x="173317" y="641"/>
                  <a:pt x="174624" y="299"/>
                  <a:pt x="175959" y="127"/>
                </a:cubicBezTo>
                <a:lnTo>
                  <a:pt x="177959" y="0"/>
                </a:lnTo>
                <a:lnTo>
                  <a:pt x="179959" y="127"/>
                </a:lnTo>
                <a:cubicBezTo>
                  <a:pt x="181293" y="299"/>
                  <a:pt x="182600" y="641"/>
                  <a:pt x="183848" y="1143"/>
                </a:cubicBezTo>
                <a:lnTo>
                  <a:pt x="343106" y="64849"/>
                </a:lnTo>
                <a:lnTo>
                  <a:pt x="344821" y="65723"/>
                </a:lnTo>
                <a:lnTo>
                  <a:pt x="346393" y="66802"/>
                </a:lnTo>
                <a:lnTo>
                  <a:pt x="347789" y="68009"/>
                </a:lnTo>
                <a:lnTo>
                  <a:pt x="348980" y="69310"/>
                </a:lnTo>
                <a:lnTo>
                  <a:pt x="349536" y="70009"/>
                </a:lnTo>
                <a:lnTo>
                  <a:pt x="350695" y="71834"/>
                </a:lnTo>
                <a:lnTo>
                  <a:pt x="351520" y="73660"/>
                </a:lnTo>
                <a:lnTo>
                  <a:pt x="352060" y="75279"/>
                </a:lnTo>
                <a:lnTo>
                  <a:pt x="352457" y="77422"/>
                </a:lnTo>
                <a:lnTo>
                  <a:pt x="352552" y="78343"/>
                </a:lnTo>
                <a:lnTo>
                  <a:pt x="352584" y="174625"/>
                </a:lnTo>
                <a:cubicBezTo>
                  <a:pt x="352584" y="183393"/>
                  <a:pt x="345476" y="190500"/>
                  <a:pt x="336709" y="190500"/>
                </a:cubicBezTo>
                <a:cubicBezTo>
                  <a:pt x="327941" y="190500"/>
                  <a:pt x="320834" y="183393"/>
                  <a:pt x="320834" y="174625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45330" y="177355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广西民族大学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2950" y="2124075"/>
            <a:ext cx="19878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人工智能专业 | 本科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029074" y="2638157"/>
            <a:ext cx="171452" cy="190769"/>
            <a:chOff x="4029074" y="2638157"/>
            <a:chExt cx="171452" cy="190769"/>
          </a:xfrm>
        </p:grpSpPr>
        <p:sp>
          <p:nvSpPr>
            <p:cNvPr id="16" name="Freeform 16"/>
            <p:cNvSpPr/>
            <p:nvPr/>
          </p:nvSpPr>
          <p:spPr>
            <a:xfrm>
              <a:off x="4029074" y="2638157"/>
              <a:ext cx="171452" cy="190769"/>
            </a:xfrm>
            <a:custGeom>
              <a:avLst/>
              <a:gdLst/>
              <a:ahLst/>
              <a:cxnLst/>
              <a:rect l="l" t="t" r="r" b="b"/>
              <a:pathLst>
                <a:path w="171452" h="190769">
                  <a:moveTo>
                    <a:pt x="123826" y="268"/>
                  </a:moveTo>
                  <a:cubicBezTo>
                    <a:pt x="128655" y="269"/>
                    <a:pt x="132719" y="3883"/>
                    <a:pt x="133284" y="8679"/>
                  </a:cubicBezTo>
                  <a:lnTo>
                    <a:pt x="133351" y="9793"/>
                  </a:lnTo>
                  <a:lnTo>
                    <a:pt x="133351" y="19318"/>
                  </a:lnTo>
                  <a:lnTo>
                    <a:pt x="142876" y="19318"/>
                  </a:lnTo>
                  <a:cubicBezTo>
                    <a:pt x="158007" y="19318"/>
                    <a:pt x="170516" y="31112"/>
                    <a:pt x="171403" y="46217"/>
                  </a:cubicBezTo>
                  <a:lnTo>
                    <a:pt x="171451" y="47893"/>
                  </a:lnTo>
                  <a:lnTo>
                    <a:pt x="171451" y="162193"/>
                  </a:lnTo>
                  <a:cubicBezTo>
                    <a:pt x="171452" y="177324"/>
                    <a:pt x="159657" y="189833"/>
                    <a:pt x="144552" y="190721"/>
                  </a:cubicBezTo>
                  <a:lnTo>
                    <a:pt x="142876" y="190768"/>
                  </a:lnTo>
                  <a:lnTo>
                    <a:pt x="28576" y="190768"/>
                  </a:lnTo>
                  <a:cubicBezTo>
                    <a:pt x="13445" y="190769"/>
                    <a:pt x="936" y="178975"/>
                    <a:pt x="48" y="163870"/>
                  </a:cubicBezTo>
                  <a:lnTo>
                    <a:pt x="1" y="162193"/>
                  </a:lnTo>
                  <a:lnTo>
                    <a:pt x="1" y="47893"/>
                  </a:lnTo>
                  <a:cubicBezTo>
                    <a:pt x="0" y="32762"/>
                    <a:pt x="11794" y="20254"/>
                    <a:pt x="26899" y="19366"/>
                  </a:cubicBezTo>
                  <a:lnTo>
                    <a:pt x="28576" y="19318"/>
                  </a:lnTo>
                  <a:lnTo>
                    <a:pt x="38101" y="19318"/>
                  </a:lnTo>
                  <a:lnTo>
                    <a:pt x="38101" y="9793"/>
                  </a:lnTo>
                  <a:cubicBezTo>
                    <a:pt x="38106" y="4754"/>
                    <a:pt x="42037" y="591"/>
                    <a:pt x="47068" y="295"/>
                  </a:cubicBezTo>
                  <a:cubicBezTo>
                    <a:pt x="52099" y="0"/>
                    <a:pt x="56489" y="3675"/>
                    <a:pt x="57084" y="8679"/>
                  </a:cubicBezTo>
                  <a:lnTo>
                    <a:pt x="57151" y="9793"/>
                  </a:lnTo>
                  <a:lnTo>
                    <a:pt x="57151" y="19318"/>
                  </a:lnTo>
                  <a:lnTo>
                    <a:pt x="114301" y="19318"/>
                  </a:lnTo>
                  <a:lnTo>
                    <a:pt x="114301" y="9793"/>
                  </a:lnTo>
                  <a:cubicBezTo>
                    <a:pt x="114301" y="4533"/>
                    <a:pt x="118565" y="268"/>
                    <a:pt x="123826" y="268"/>
                  </a:cubicBezTo>
                  <a:close/>
                  <a:moveTo>
                    <a:pt x="152401" y="66943"/>
                  </a:moveTo>
                  <a:lnTo>
                    <a:pt x="19051" y="66943"/>
                  </a:lnTo>
                  <a:lnTo>
                    <a:pt x="19051" y="158622"/>
                  </a:lnTo>
                  <a:cubicBezTo>
                    <a:pt x="19051" y="165337"/>
                    <a:pt x="22727" y="170871"/>
                    <a:pt x="27461" y="171633"/>
                  </a:cubicBezTo>
                  <a:lnTo>
                    <a:pt x="28576" y="171718"/>
                  </a:lnTo>
                  <a:lnTo>
                    <a:pt x="142876" y="171718"/>
                  </a:lnTo>
                  <a:cubicBezTo>
                    <a:pt x="147762" y="171718"/>
                    <a:pt x="151791" y="166670"/>
                    <a:pt x="152334" y="160146"/>
                  </a:cubicBezTo>
                  <a:lnTo>
                    <a:pt x="152401" y="158622"/>
                  </a:lnTo>
                  <a:lnTo>
                    <a:pt x="152401" y="66943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095482" y="2733675"/>
              <a:ext cx="28843" cy="47893"/>
            </a:xfrm>
            <a:custGeom>
              <a:avLst/>
              <a:gdLst/>
              <a:ahLst/>
              <a:cxnLst/>
              <a:rect l="l" t="t" r="r" b="b"/>
              <a:pathLst>
                <a:path w="28843" h="47893">
                  <a:moveTo>
                    <a:pt x="19318" y="0"/>
                  </a:moveTo>
                  <a:cubicBezTo>
                    <a:pt x="24147" y="1"/>
                    <a:pt x="28212" y="3615"/>
                    <a:pt x="28777" y="8411"/>
                  </a:cubicBezTo>
                  <a:lnTo>
                    <a:pt x="28843" y="9525"/>
                  </a:lnTo>
                  <a:lnTo>
                    <a:pt x="28843" y="38100"/>
                  </a:lnTo>
                  <a:cubicBezTo>
                    <a:pt x="28838" y="43140"/>
                    <a:pt x="24908" y="47303"/>
                    <a:pt x="19877" y="47598"/>
                  </a:cubicBezTo>
                  <a:cubicBezTo>
                    <a:pt x="14846" y="47893"/>
                    <a:pt x="10455" y="44219"/>
                    <a:pt x="9860" y="39214"/>
                  </a:cubicBezTo>
                  <a:lnTo>
                    <a:pt x="9793" y="3810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4364355" y="2664142"/>
            <a:ext cx="23214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2023.9 ~ 至今 · 大二在读</a:t>
            </a:r>
          </a:p>
        </p:txBody>
      </p:sp>
      <p:sp>
        <p:nvSpPr>
          <p:cNvPr id="20" name="Freeform 20"/>
          <p:cNvSpPr/>
          <p:nvPr/>
        </p:nvSpPr>
        <p:spPr>
          <a:xfrm>
            <a:off x="4019550" y="3080206"/>
            <a:ext cx="190500" cy="158719"/>
          </a:xfrm>
          <a:custGeom>
            <a:avLst/>
            <a:gdLst/>
            <a:ahLst/>
            <a:cxnLst/>
            <a:rect l="l" t="t" r="r" b="b"/>
            <a:pathLst>
              <a:path w="190500" h="158719">
                <a:moveTo>
                  <a:pt x="185738" y="16695"/>
                </a:moveTo>
                <a:cubicBezTo>
                  <a:pt x="188339" y="18197"/>
                  <a:pt x="190079" y="20837"/>
                  <a:pt x="190433" y="23820"/>
                </a:cubicBezTo>
                <a:lnTo>
                  <a:pt x="190500" y="24944"/>
                </a:lnTo>
                <a:lnTo>
                  <a:pt x="190500" y="148769"/>
                </a:lnTo>
                <a:cubicBezTo>
                  <a:pt x="190500" y="152172"/>
                  <a:pt x="188684" y="155316"/>
                  <a:pt x="185737" y="157017"/>
                </a:cubicBezTo>
                <a:cubicBezTo>
                  <a:pt x="182790" y="158719"/>
                  <a:pt x="179160" y="158719"/>
                  <a:pt x="176213" y="157017"/>
                </a:cubicBezTo>
                <a:cubicBezTo>
                  <a:pt x="154298" y="144363"/>
                  <a:pt x="127531" y="143414"/>
                  <a:pt x="104775" y="154484"/>
                </a:cubicBezTo>
                <a:lnTo>
                  <a:pt x="104775" y="9951"/>
                </a:lnTo>
                <a:cubicBezTo>
                  <a:pt x="131416" y="0"/>
                  <a:pt x="161110" y="2473"/>
                  <a:pt x="185738" y="16695"/>
                </a:cubicBezTo>
                <a:moveTo>
                  <a:pt x="85725" y="9961"/>
                </a:moveTo>
                <a:lnTo>
                  <a:pt x="85735" y="154493"/>
                </a:lnTo>
                <a:cubicBezTo>
                  <a:pt x="63901" y="143864"/>
                  <a:pt x="38309" y="144278"/>
                  <a:pt x="16831" y="155608"/>
                </a:cubicBezTo>
                <a:lnTo>
                  <a:pt x="13716" y="157322"/>
                </a:lnTo>
                <a:lnTo>
                  <a:pt x="12735" y="157741"/>
                </a:lnTo>
                <a:lnTo>
                  <a:pt x="12268" y="157894"/>
                </a:lnTo>
                <a:lnTo>
                  <a:pt x="11220" y="158141"/>
                </a:lnTo>
                <a:lnTo>
                  <a:pt x="10639" y="158237"/>
                </a:lnTo>
                <a:lnTo>
                  <a:pt x="9525" y="158294"/>
                </a:lnTo>
                <a:lnTo>
                  <a:pt x="9125" y="158294"/>
                </a:lnTo>
                <a:lnTo>
                  <a:pt x="8077" y="158179"/>
                </a:lnTo>
                <a:lnTo>
                  <a:pt x="7344" y="158046"/>
                </a:lnTo>
                <a:lnTo>
                  <a:pt x="6315" y="157741"/>
                </a:lnTo>
                <a:lnTo>
                  <a:pt x="5115" y="157208"/>
                </a:lnTo>
                <a:lnTo>
                  <a:pt x="4210" y="156674"/>
                </a:lnTo>
                <a:lnTo>
                  <a:pt x="3362" y="156036"/>
                </a:lnTo>
                <a:lnTo>
                  <a:pt x="2791" y="155503"/>
                </a:lnTo>
                <a:lnTo>
                  <a:pt x="2096" y="154722"/>
                </a:lnTo>
                <a:lnTo>
                  <a:pt x="1486" y="153874"/>
                </a:lnTo>
                <a:lnTo>
                  <a:pt x="1276" y="153531"/>
                </a:lnTo>
                <a:lnTo>
                  <a:pt x="972" y="152960"/>
                </a:lnTo>
                <a:lnTo>
                  <a:pt x="552" y="151979"/>
                </a:lnTo>
                <a:lnTo>
                  <a:pt x="400" y="151512"/>
                </a:lnTo>
                <a:lnTo>
                  <a:pt x="152" y="150464"/>
                </a:lnTo>
                <a:lnTo>
                  <a:pt x="57" y="149883"/>
                </a:lnTo>
                <a:lnTo>
                  <a:pt x="19" y="149416"/>
                </a:lnTo>
                <a:lnTo>
                  <a:pt x="0" y="24944"/>
                </a:lnTo>
                <a:cubicBezTo>
                  <a:pt x="0" y="21541"/>
                  <a:pt x="1816" y="18396"/>
                  <a:pt x="4762" y="16695"/>
                </a:cubicBezTo>
                <a:cubicBezTo>
                  <a:pt x="29391" y="2476"/>
                  <a:pt x="59085" y="7"/>
                  <a:pt x="85725" y="9961"/>
                </a:cubicBezTo>
              </a:path>
            </a:pathLst>
          </a:custGeom>
          <a:solidFill>
            <a:srgbClr val="61616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366260" y="3108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主修课程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000500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299585" y="3544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人工智能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81625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680710" y="3544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机器学习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762750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061835" y="3544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深度学习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143875" y="342900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289608" y="35442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自然语言处理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000500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222909" y="39728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计算机视觉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381625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450681" y="39728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数据结构与算法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762750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985159" y="39728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数据库原理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43875" y="3857625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42960" y="397287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操作系统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667250" y="4286250"/>
            <a:ext cx="123825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9659" y="44015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计算机网络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619500" y="4857750"/>
            <a:ext cx="7239000" cy="619125"/>
          </a:xfrm>
          <a:prstGeom prst="roundRect">
            <a:avLst>
              <a:gd name="adj" fmla="val 18462"/>
            </a:avLst>
          </a:prstGeom>
          <a:solidFill>
            <a:srgbClr val="0D47A1">
              <a:alpha val="5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358259" y="5013960"/>
            <a:ext cx="57614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AI专业背景扎实，课程覆盖AI核心领域，具备从理论到实践的完整知识体系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71262" y="5247799"/>
            <a:ext cx="1135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预计 2027 年毕业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 / 13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实习经历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7212" y="659606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Internship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17145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19050">
            <a:solidFill>
              <a:srgbClr val="E0E0E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047750" y="2381250"/>
            <a:ext cx="190500" cy="1905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71550" y="2305050"/>
            <a:ext cx="342900" cy="342900"/>
          </a:xfrm>
          <a:prstGeom prst="ellipse">
            <a:avLst/>
          </a:prstGeom>
          <a:solidFill>
            <a:srgbClr val="1565C0">
              <a:alpha val="12000"/>
            </a:srgbClr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714500" y="1524000"/>
            <a:ext cx="99060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1714500" y="1524000"/>
            <a:ext cx="9906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714500" y="1581150"/>
            <a:ext cx="9906000" cy="7620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2028825" y="1895475"/>
            <a:ext cx="285750" cy="271462"/>
          </a:xfrm>
          <a:custGeom>
            <a:avLst/>
            <a:gdLst/>
            <a:ahLst/>
            <a:cxnLst/>
            <a:rect l="l" t="t" r="r" b="b"/>
            <a:pathLst>
              <a:path w="285750" h="271462">
                <a:moveTo>
                  <a:pt x="285750" y="163992"/>
                </a:moveTo>
                <a:lnTo>
                  <a:pt x="285750" y="228600"/>
                </a:lnTo>
                <a:cubicBezTo>
                  <a:pt x="285750" y="252272"/>
                  <a:pt x="266560" y="271462"/>
                  <a:pt x="242888" y="271462"/>
                </a:cubicBezTo>
                <a:lnTo>
                  <a:pt x="42862" y="271462"/>
                </a:lnTo>
                <a:cubicBezTo>
                  <a:pt x="19190" y="271462"/>
                  <a:pt x="0" y="252272"/>
                  <a:pt x="0" y="228600"/>
                </a:cubicBezTo>
                <a:lnTo>
                  <a:pt x="0" y="163992"/>
                </a:lnTo>
                <a:lnTo>
                  <a:pt x="7901" y="167950"/>
                </a:lnTo>
                <a:cubicBezTo>
                  <a:pt x="92818" y="210722"/>
                  <a:pt x="192984" y="210712"/>
                  <a:pt x="277892" y="167921"/>
                </a:cubicBezTo>
                <a:lnTo>
                  <a:pt x="285750" y="163992"/>
                </a:lnTo>
                <a:close/>
                <a:moveTo>
                  <a:pt x="171450" y="0"/>
                </a:moveTo>
                <a:cubicBezTo>
                  <a:pt x="195122" y="0"/>
                  <a:pt x="214312" y="19190"/>
                  <a:pt x="214312" y="42862"/>
                </a:cubicBezTo>
                <a:lnTo>
                  <a:pt x="214312" y="57150"/>
                </a:lnTo>
                <a:lnTo>
                  <a:pt x="242888" y="57150"/>
                </a:lnTo>
                <a:cubicBezTo>
                  <a:pt x="266560" y="57150"/>
                  <a:pt x="285750" y="76340"/>
                  <a:pt x="285750" y="100012"/>
                </a:cubicBezTo>
                <a:lnTo>
                  <a:pt x="285750" y="132045"/>
                </a:lnTo>
                <a:lnTo>
                  <a:pt x="265076" y="142389"/>
                </a:lnTo>
                <a:cubicBezTo>
                  <a:pt x="190113" y="180173"/>
                  <a:pt x="101888" y="181154"/>
                  <a:pt x="26103" y="145047"/>
                </a:cubicBezTo>
                <a:lnTo>
                  <a:pt x="16859" y="140475"/>
                </a:lnTo>
                <a:lnTo>
                  <a:pt x="0" y="132045"/>
                </a:lnTo>
                <a:lnTo>
                  <a:pt x="0" y="100012"/>
                </a:lnTo>
                <a:cubicBezTo>
                  <a:pt x="0" y="76340"/>
                  <a:pt x="19190" y="57150"/>
                  <a:pt x="42862" y="57150"/>
                </a:cubicBezTo>
                <a:lnTo>
                  <a:pt x="71438" y="57150"/>
                </a:lnTo>
                <a:lnTo>
                  <a:pt x="71438" y="42862"/>
                </a:lnTo>
                <a:cubicBezTo>
                  <a:pt x="71438" y="19190"/>
                  <a:pt x="90628" y="0"/>
                  <a:pt x="114300" y="0"/>
                </a:cubicBezTo>
                <a:lnTo>
                  <a:pt x="171450" y="0"/>
                </a:lnTo>
                <a:close/>
                <a:moveTo>
                  <a:pt x="142875" y="114300"/>
                </a:moveTo>
                <a:cubicBezTo>
                  <a:pt x="134984" y="114300"/>
                  <a:pt x="128588" y="120697"/>
                  <a:pt x="128588" y="128588"/>
                </a:cubicBezTo>
                <a:cubicBezTo>
                  <a:pt x="128562" y="133692"/>
                  <a:pt x="131262" y="138422"/>
                  <a:pt x="135669" y="140997"/>
                </a:cubicBezTo>
                <a:cubicBezTo>
                  <a:pt x="140077" y="143571"/>
                  <a:pt x="145524" y="143598"/>
                  <a:pt x="149957" y="141068"/>
                </a:cubicBezTo>
                <a:cubicBezTo>
                  <a:pt x="154390" y="138538"/>
                  <a:pt x="157137" y="133835"/>
                  <a:pt x="157162" y="128730"/>
                </a:cubicBezTo>
                <a:cubicBezTo>
                  <a:pt x="157162" y="120701"/>
                  <a:pt x="150762" y="114300"/>
                  <a:pt x="142875" y="114300"/>
                </a:cubicBezTo>
                <a:close/>
                <a:moveTo>
                  <a:pt x="171450" y="28575"/>
                </a:moveTo>
                <a:lnTo>
                  <a:pt x="114300" y="28575"/>
                </a:lnTo>
                <a:cubicBezTo>
                  <a:pt x="106409" y="28575"/>
                  <a:pt x="100012" y="34972"/>
                  <a:pt x="100012" y="42862"/>
                </a:cubicBezTo>
                <a:lnTo>
                  <a:pt x="100012" y="57150"/>
                </a:lnTo>
                <a:lnTo>
                  <a:pt x="185738" y="57150"/>
                </a:lnTo>
                <a:lnTo>
                  <a:pt x="185738" y="42862"/>
                </a:lnTo>
                <a:cubicBezTo>
                  <a:pt x="185738" y="34972"/>
                  <a:pt x="179341" y="28575"/>
                  <a:pt x="171450" y="28575"/>
                </a:cubicBezTo>
                <a:close/>
              </a:path>
            </a:pathLst>
          </a:custGeom>
          <a:solidFill>
            <a:srgbClr val="1565C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2497455" y="17926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字节跳动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06980" y="2121218"/>
            <a:ext cx="10201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数据标注师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144000" y="171450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20880" y="1831181"/>
            <a:ext cx="13512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2025.9 ~ 2025.10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81200" y="2600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工作职责</a:t>
            </a:r>
          </a:p>
        </p:txBody>
      </p:sp>
      <p:sp>
        <p:nvSpPr>
          <p:cNvPr id="19" name="Ellipse 19"/>
          <p:cNvSpPr/>
          <p:nvPr/>
        </p:nvSpPr>
        <p:spPr>
          <a:xfrm>
            <a:off x="2000250" y="3095625"/>
            <a:ext cx="95250" cy="95250"/>
          </a:xfrm>
          <a:prstGeom prst="ellipse">
            <a:avLst/>
          </a:prstGeom>
          <a:solidFill>
            <a:srgbClr val="1565C0">
              <a:alpha val="60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222182" y="3081814"/>
            <a:ext cx="59260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参与字节跳动人工智能大模型（豆包）的监督微调（SFT）数据标注工作</a:t>
            </a:r>
          </a:p>
        </p:txBody>
      </p:sp>
      <p:sp>
        <p:nvSpPr>
          <p:cNvPr id="21" name="Ellipse 21"/>
          <p:cNvSpPr/>
          <p:nvPr/>
        </p:nvSpPr>
        <p:spPr>
          <a:xfrm>
            <a:off x="2000250" y="3571875"/>
            <a:ext cx="95250" cy="95250"/>
          </a:xfrm>
          <a:prstGeom prst="ellipse">
            <a:avLst/>
          </a:prstGeom>
          <a:solidFill>
            <a:srgbClr val="1565C0">
              <a:alpha val="6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222182" y="355806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负责标注处理前端交互相关数据，严格遵循标注规范</a:t>
            </a:r>
          </a:p>
        </p:txBody>
      </p:sp>
      <p:sp>
        <p:nvSpPr>
          <p:cNvPr id="23" name="Ellipse 23"/>
          <p:cNvSpPr/>
          <p:nvPr/>
        </p:nvSpPr>
        <p:spPr>
          <a:xfrm>
            <a:off x="2000250" y="4048125"/>
            <a:ext cx="95250" cy="95250"/>
          </a:xfrm>
          <a:prstGeom prst="ellipse">
            <a:avLst/>
          </a:prstGeom>
          <a:solidFill>
            <a:srgbClr val="1565C0">
              <a:alpha val="60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222182" y="4034314"/>
            <a:ext cx="46877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保证样本的准确性与一致性，确保模型训练数据的高质量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000250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197441" y="4687252"/>
            <a:ext cx="9391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SFT 数据标注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476625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746659" y="46872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大模型训练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953000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146358" y="46872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前端交互数据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29375" y="45720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76085" y="4687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质量控制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 / 13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F4F6F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42A5F5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7210" y="2609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项目经历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7212" y="6596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Projects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0875" y="1270000"/>
            <a:ext cx="222250" cy="301625"/>
            <a:chOff x="650875" y="1270000"/>
            <a:chExt cx="222250" cy="301625"/>
          </a:xfrm>
        </p:grpSpPr>
        <p:sp>
          <p:nvSpPr>
            <p:cNvPr id="7" name="Freeform 7"/>
            <p:cNvSpPr/>
            <p:nvPr/>
          </p:nvSpPr>
          <p:spPr>
            <a:xfrm>
              <a:off x="666750" y="13017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31750"/>
                  </a:moveTo>
                  <a:cubicBezTo>
                    <a:pt x="0" y="14215"/>
                    <a:pt x="14215" y="0"/>
                    <a:pt x="31750" y="0"/>
                  </a:cubicBezTo>
                  <a:lnTo>
                    <a:pt x="158750" y="0"/>
                  </a:lnTo>
                  <a:cubicBezTo>
                    <a:pt x="176285" y="0"/>
                    <a:pt x="190500" y="14215"/>
                    <a:pt x="190500" y="31750"/>
                  </a:cubicBezTo>
                  <a:lnTo>
                    <a:pt x="190500" y="95250"/>
                  </a:lnTo>
                  <a:cubicBezTo>
                    <a:pt x="190500" y="112785"/>
                    <a:pt x="176285" y="127000"/>
                    <a:pt x="158750" y="127000"/>
                  </a:cubicBezTo>
                  <a:lnTo>
                    <a:pt x="31750" y="127000"/>
                  </a:lnTo>
                  <a:cubicBezTo>
                    <a:pt x="14215" y="127000"/>
                    <a:pt x="0" y="112785"/>
                    <a:pt x="0" y="95250"/>
                  </a:cubicBezTo>
                  <a:lnTo>
                    <a:pt x="0" y="317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270000"/>
              <a:ext cx="9525" cy="31750"/>
            </a:xfrm>
            <a:custGeom>
              <a:avLst/>
              <a:gdLst/>
              <a:ahLst/>
              <a:cxnLst/>
              <a:rect l="l" t="t" r="r" b="b"/>
              <a:pathLst>
                <a:path w="9525" h="31750">
                  <a:moveTo>
                    <a:pt x="0" y="0"/>
                  </a:moveTo>
                  <a:lnTo>
                    <a:pt x="0" y="317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14375" y="14287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09625" y="142875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50875" y="1460500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31750"/>
                  </a:moveTo>
                  <a:lnTo>
                    <a:pt x="63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09625" y="1460500"/>
              <a:ext cx="63500" cy="31750"/>
            </a:xfrm>
            <a:custGeom>
              <a:avLst/>
              <a:gdLst/>
              <a:ahLst/>
              <a:cxnLst/>
              <a:rect l="l" t="t" r="r" b="b"/>
              <a:pathLst>
                <a:path w="63500" h="31750">
                  <a:moveTo>
                    <a:pt x="0" y="0"/>
                  </a:moveTo>
                  <a:lnTo>
                    <a:pt x="63500" y="3175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14375" y="1524000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30250" y="13652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93750" y="13652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159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068705" y="1202055"/>
            <a:ext cx="52059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中国机器人及人工智能大赛备赛开发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230" y="1549718"/>
            <a:ext cx="27749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技术负责人 · 2025.3 ~ 2025.8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144000" y="1190625"/>
            <a:ext cx="24765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0D47A1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9356736" y="1385888"/>
            <a:ext cx="224381" cy="211137"/>
          </a:xfrm>
          <a:custGeom>
            <a:avLst/>
            <a:gdLst/>
            <a:ahLst/>
            <a:cxnLst/>
            <a:rect l="l" t="t" r="r" b="b"/>
            <a:pathLst>
              <a:path w="224381" h="211137">
                <a:moveTo>
                  <a:pt x="166676" y="0"/>
                </a:moveTo>
                <a:cubicBezTo>
                  <a:pt x="172310" y="1"/>
                  <a:pt x="177052" y="4217"/>
                  <a:pt x="177711" y="9812"/>
                </a:cubicBezTo>
                <a:lnTo>
                  <a:pt x="177789" y="11112"/>
                </a:lnTo>
                <a:lnTo>
                  <a:pt x="177789" y="35227"/>
                </a:lnTo>
                <a:cubicBezTo>
                  <a:pt x="191601" y="30360"/>
                  <a:pt x="206972" y="35077"/>
                  <a:pt x="215677" y="46854"/>
                </a:cubicBezTo>
                <a:cubicBezTo>
                  <a:pt x="224381" y="58630"/>
                  <a:pt x="224381" y="74709"/>
                  <a:pt x="215677" y="86485"/>
                </a:cubicBezTo>
                <a:cubicBezTo>
                  <a:pt x="206972" y="98262"/>
                  <a:pt x="191601" y="102979"/>
                  <a:pt x="177789" y="98112"/>
                </a:cubicBezTo>
                <a:lnTo>
                  <a:pt x="177789" y="100012"/>
                </a:lnTo>
                <a:cubicBezTo>
                  <a:pt x="177785" y="132548"/>
                  <a:pt x="154306" y="160333"/>
                  <a:pt x="122226" y="165765"/>
                </a:cubicBezTo>
                <a:lnTo>
                  <a:pt x="122226" y="188913"/>
                </a:lnTo>
                <a:lnTo>
                  <a:pt x="155564" y="188913"/>
                </a:lnTo>
                <a:cubicBezTo>
                  <a:pt x="161443" y="188919"/>
                  <a:pt x="166300" y="193504"/>
                  <a:pt x="166645" y="199374"/>
                </a:cubicBezTo>
                <a:cubicBezTo>
                  <a:pt x="166990" y="205243"/>
                  <a:pt x="162702" y="210365"/>
                  <a:pt x="156864" y="211060"/>
                </a:cubicBezTo>
                <a:lnTo>
                  <a:pt x="155564" y="211137"/>
                </a:lnTo>
                <a:lnTo>
                  <a:pt x="66664" y="211137"/>
                </a:lnTo>
                <a:cubicBezTo>
                  <a:pt x="60784" y="211131"/>
                  <a:pt x="55927" y="206546"/>
                  <a:pt x="55583" y="200676"/>
                </a:cubicBezTo>
                <a:cubicBezTo>
                  <a:pt x="55238" y="194807"/>
                  <a:pt x="59525" y="189685"/>
                  <a:pt x="65364" y="188990"/>
                </a:cubicBezTo>
                <a:lnTo>
                  <a:pt x="66664" y="188913"/>
                </a:lnTo>
                <a:lnTo>
                  <a:pt x="100001" y="188913"/>
                </a:lnTo>
                <a:lnTo>
                  <a:pt x="100001" y="165765"/>
                </a:lnTo>
                <a:cubicBezTo>
                  <a:pt x="68850" y="160492"/>
                  <a:pt x="45672" y="134085"/>
                  <a:pt x="44483" y="102513"/>
                </a:cubicBezTo>
                <a:lnTo>
                  <a:pt x="44439" y="100012"/>
                </a:lnTo>
                <a:lnTo>
                  <a:pt x="44439" y="98112"/>
                </a:lnTo>
                <a:cubicBezTo>
                  <a:pt x="34558" y="101610"/>
                  <a:pt x="23607" y="100257"/>
                  <a:pt x="14875" y="94459"/>
                </a:cubicBezTo>
                <a:cubicBezTo>
                  <a:pt x="6142" y="88662"/>
                  <a:pt x="645" y="79095"/>
                  <a:pt x="33" y="68631"/>
                </a:cubicBezTo>
                <a:lnTo>
                  <a:pt x="0" y="66675"/>
                </a:lnTo>
                <a:lnTo>
                  <a:pt x="56" y="64719"/>
                </a:lnTo>
                <a:cubicBezTo>
                  <a:pt x="665" y="54256"/>
                  <a:pt x="6159" y="44688"/>
                  <a:pt x="14889" y="38889"/>
                </a:cubicBezTo>
                <a:cubicBezTo>
                  <a:pt x="23619" y="33089"/>
                  <a:pt x="34569" y="31733"/>
                  <a:pt x="44450" y="35227"/>
                </a:cubicBezTo>
                <a:lnTo>
                  <a:pt x="44439" y="11112"/>
                </a:lnTo>
                <a:cubicBezTo>
                  <a:pt x="44439" y="4975"/>
                  <a:pt x="49414" y="0"/>
                  <a:pt x="55551" y="0"/>
                </a:cubicBezTo>
                <a:lnTo>
                  <a:pt x="166676" y="0"/>
                </a:lnTo>
                <a:close/>
                <a:moveTo>
                  <a:pt x="33326" y="55563"/>
                </a:moveTo>
                <a:cubicBezTo>
                  <a:pt x="27189" y="55563"/>
                  <a:pt x="22214" y="60538"/>
                  <a:pt x="22214" y="66675"/>
                </a:cubicBezTo>
                <a:cubicBezTo>
                  <a:pt x="22214" y="72812"/>
                  <a:pt x="27189" y="77787"/>
                  <a:pt x="33326" y="77787"/>
                </a:cubicBezTo>
                <a:cubicBezTo>
                  <a:pt x="39464" y="77787"/>
                  <a:pt x="44439" y="72812"/>
                  <a:pt x="44439" y="66675"/>
                </a:cubicBezTo>
                <a:cubicBezTo>
                  <a:pt x="44439" y="60538"/>
                  <a:pt x="39464" y="55563"/>
                  <a:pt x="33326" y="55563"/>
                </a:cubicBezTo>
                <a:moveTo>
                  <a:pt x="188901" y="55563"/>
                </a:moveTo>
                <a:cubicBezTo>
                  <a:pt x="182764" y="55563"/>
                  <a:pt x="177789" y="60538"/>
                  <a:pt x="177789" y="66675"/>
                </a:cubicBezTo>
                <a:cubicBezTo>
                  <a:pt x="177789" y="72812"/>
                  <a:pt x="182764" y="77787"/>
                  <a:pt x="188901" y="77787"/>
                </a:cubicBezTo>
                <a:cubicBezTo>
                  <a:pt x="195039" y="77787"/>
                  <a:pt x="200014" y="72812"/>
                  <a:pt x="200014" y="66675"/>
                </a:cubicBezTo>
                <a:cubicBezTo>
                  <a:pt x="200014" y="60538"/>
                  <a:pt x="195039" y="55563"/>
                  <a:pt x="188901" y="55563"/>
                </a:cubicBez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99308" y="1338739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国家级二等奖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04070" y="15697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国家级竞赛成果</a:t>
            </a:r>
          </a:p>
        </p:txBody>
      </p:sp>
      <p:sp>
        <p:nvSpPr>
          <p:cNvPr id="23" name="Line 23"/>
          <p:cNvSpPr/>
          <p:nvPr/>
        </p:nvSpPr>
        <p:spPr>
          <a:xfrm>
            <a:off x="571500" y="190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2095500"/>
            <a:ext cx="5143500" cy="276225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0105" y="2283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项目描述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010" y="2585085"/>
            <a:ext cx="9669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16161"/>
                </a:solidFill>
                <a:latin typeface="Arial"/>
                <a:ea typeface="Microsoft YaHei"/>
                <a:cs typeface="Arial"/>
              </a:rPr>
              <a:t>围绕开鸿机器人进行动作与代码逻辑设计开发，完成机器人多模式运行的功能搭建，保障比赛中各类场景下的任务执行能力。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0105" y="3092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个人职责</a:t>
            </a:r>
          </a:p>
        </p:txBody>
      </p:sp>
      <p:sp>
        <p:nvSpPr>
          <p:cNvPr id="28" name="Ellipse 28"/>
          <p:cNvSpPr/>
          <p:nvPr/>
        </p:nvSpPr>
        <p:spPr>
          <a:xfrm>
            <a:off x="866775" y="3486150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33462" y="3459956"/>
            <a:ext cx="8112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负责开鸿机器人各项动作设计，除基础动作外，设计"倒地起身""奔跑"等舵机联动复杂动作，应对比赛突发情况</a:t>
            </a:r>
          </a:p>
        </p:txBody>
      </p:sp>
      <p:sp>
        <p:nvSpPr>
          <p:cNvPr id="30" name="Ellipse 30"/>
          <p:cNvSpPr/>
          <p:nvPr/>
        </p:nvSpPr>
        <p:spPr>
          <a:xfrm>
            <a:off x="866775" y="4010025"/>
            <a:ext cx="76200" cy="762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33462" y="3983831"/>
            <a:ext cx="778383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12121"/>
                </a:solidFill>
                <a:latin typeface="Arial"/>
                <a:ea typeface="Microsoft YaHei"/>
                <a:cs typeface="Arial"/>
              </a:rPr>
              <a:t>主导机器人整体代码逻辑设计，完成"自动模式"下动作行为编排，以及遥控模式下"按键"与代码的逻辑映射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096000" y="2095500"/>
            <a:ext cx="5524500" cy="2762250"/>
          </a:xfrm>
          <a:prstGeom prst="roundRect">
            <a:avLst>
              <a:gd name="adj" fmla="val 4138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364605" y="2283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技术栈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381750" y="26193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12731" y="2744152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机器人动作设计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96250" y="26193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57260" y="2744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舵机控制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810750" y="261937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0118408" y="27441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代码逻辑开发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81750" y="30956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689408" y="3220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遥控系统适配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096250" y="30956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403908" y="322040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自动模式编排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810750" y="3095625"/>
            <a:ext cx="1571625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195084" y="3220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开鸿机器人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364605" y="3664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D47A1"/>
                </a:solidFill>
                <a:latin typeface="Arial"/>
                <a:ea typeface="Microsoft YaHei"/>
                <a:cs typeface="Arial"/>
              </a:rPr>
              <a:t>项目成果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66510" y="4013835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E7D32"/>
                </a:solidFill>
                <a:latin typeface="Arial"/>
                <a:ea typeface="Microsoft YaHei"/>
                <a:cs typeface="Arial"/>
              </a:rPr>
              <a:t>带领团队完成机器人开发与调试，最终斩获国家级二等奖。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514350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762000" y="52578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98640" y="5333524"/>
            <a:ext cx="696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51" name="Ellipse 51"/>
          <p:cNvSpPr/>
          <p:nvPr/>
        </p:nvSpPr>
        <p:spPr>
          <a:xfrm>
            <a:off x="2028825" y="5314950"/>
            <a:ext cx="133350" cy="1333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2051887" y="534019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53" name="Ellipse 53"/>
          <p:cNvSpPr/>
          <p:nvPr/>
        </p:nvSpPr>
        <p:spPr>
          <a:xfrm>
            <a:off x="2981325" y="5314950"/>
            <a:ext cx="133350" cy="1333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3004387" y="534019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5" name="Ellipse 55"/>
          <p:cNvSpPr/>
          <p:nvPr/>
        </p:nvSpPr>
        <p:spPr>
          <a:xfrm>
            <a:off x="3933825" y="5314950"/>
            <a:ext cx="133350" cy="13335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3956887" y="5340191"/>
            <a:ext cx="872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20159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 / 13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0070" y="6570345"/>
            <a:ext cx="1094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张锦洋 · 个人简历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